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note: ClawSeries is not another AI short-drama tool. It is an automated production and localization factory built for global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Short-drama globalization has entered the main battlefield. Chinese teams have proven their content and operating advantage; the next step is scalable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margin structure means AI must transform cost, not merely assist creativity.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regional logic differs, but the shared bottleneck is localization: voice, tone, cultural context, and marketing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exported dramas are translated versions, but robotic voices damage conversion. The key is automating voiceprint, emotion, lip-sync, and launch assets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ClawSeries is a full pipeline, not a point tool. Only a pipeline can change the cost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updates prove we are building an operable, debuggable production system — not a one-off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note: a localization pipeline is the foundation of global short drama. ClawSeries aims to become the Global Short Drama Autopilot.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87168" y="8412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/ GLOBAL SHORT DRAMA INFRASTRUCTURE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02152" y="1161288"/>
            <a:ext cx="52120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CLAW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</a:t>
            </a:r>
            <a:endParaRPr lang="en-US" sz="6400" dirty="0"/>
          </a:p>
        </p:txBody>
      </p:sp>
      <p:sp>
        <p:nvSpPr>
          <p:cNvPr id="42" name="Text 40"/>
          <p:cNvSpPr/>
          <p:nvPr/>
        </p:nvSpPr>
        <p:spPr>
          <a:xfrm>
            <a:off x="2606040" y="3383280"/>
            <a:ext cx="6995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Going global is not translation — it's industrial delivery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2377440" y="3840480"/>
            <a:ext cx="7424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China's short-drama content advantage into global distribution capability with a zero-human AI production factory.</a:t>
            </a:r>
            <a:endParaRPr lang="en-US" sz="1330" dirty="0"/>
          </a:p>
        </p:txBody>
      </p:sp>
      <p:sp>
        <p:nvSpPr>
          <p:cNvPr id="44" name="Shape 42"/>
          <p:cNvSpPr/>
          <p:nvPr/>
        </p:nvSpPr>
        <p:spPr>
          <a:xfrm>
            <a:off x="2423160" y="4773168"/>
            <a:ext cx="2468880" cy="8961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87752" y="4919472"/>
            <a:ext cx="438912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87752" y="49560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global short-drama app revenue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2587752" y="52486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94.93%</a:t>
            </a:r>
            <a:endParaRPr lang="en-US" sz="2700" dirty="0"/>
          </a:p>
        </p:txBody>
      </p:sp>
      <p:sp>
        <p:nvSpPr>
          <p:cNvPr id="48" name="Shape 46"/>
          <p:cNvSpPr/>
          <p:nvPr/>
        </p:nvSpPr>
        <p:spPr>
          <a:xfrm>
            <a:off x="5102352" y="4773168"/>
            <a:ext cx="2468880" cy="8961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66944" y="4919472"/>
            <a:ext cx="438912" cy="3200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66944" y="49560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2025E overseas IAP revenue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5266944" y="52486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$23.29B</a:t>
            </a:r>
            <a:endParaRPr lang="en-US" sz="2700" dirty="0"/>
          </a:p>
        </p:txBody>
      </p:sp>
      <p:sp>
        <p:nvSpPr>
          <p:cNvPr id="52" name="Shape 50"/>
          <p:cNvSpPr/>
          <p:nvPr/>
        </p:nvSpPr>
        <p:spPr>
          <a:xfrm>
            <a:off x="7781544" y="4773168"/>
            <a:ext cx="2468880" cy="8961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46136" y="4919472"/>
            <a:ext cx="438912" cy="320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46136" y="49560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localization goal: full auto redubbing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7946136" y="52486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6928" y="438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07008" y="4389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07008" y="78638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Short-drama expansion is no longer a pilot — it is the main battlefield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207008" y="171907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China's short-drama supply capability is colliding with a structural shift in global mobile video consumption.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13232" y="2395728"/>
            <a:ext cx="2615184" cy="2011680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" y="2542032"/>
            <a:ext cx="438912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" y="27432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RMB 37.39B</a:t>
            </a:r>
            <a:endParaRPr lang="en-US" sz="2900" dirty="0"/>
          </a:p>
        </p:txBody>
      </p:sp>
      <p:sp>
        <p:nvSpPr>
          <p:cNvPr id="47" name="Text 45"/>
          <p:cNvSpPr/>
          <p:nvPr/>
        </p:nvSpPr>
        <p:spPr>
          <a:xfrm>
            <a:off x="914400" y="358444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China's 2023 short-drama market reached 37.39B RMB, already more than half of the domestic box office total.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3511296" y="2395728"/>
            <a:ext cx="2615184" cy="2011680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75888" y="2542032"/>
            <a:ext cx="438912" cy="3200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94176" y="27432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370M</a:t>
            </a:r>
            <a:endParaRPr lang="en-US" sz="2900" dirty="0"/>
          </a:p>
        </p:txBody>
      </p:sp>
      <p:sp>
        <p:nvSpPr>
          <p:cNvPr id="51" name="Text 49"/>
          <p:cNvSpPr/>
          <p:nvPr/>
        </p:nvSpPr>
        <p:spPr>
          <a:xfrm>
            <a:off x="3712464" y="358444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downloads hit 370M in 2025 Q1, up 6.2x year over year, with traffic still accelerating.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309360" y="2395728"/>
            <a:ext cx="2615184" cy="2011680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73952" y="2542032"/>
            <a:ext cx="438912" cy="320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27432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$100B</a:t>
            </a:r>
            <a:endParaRPr lang="en-US" sz="3100" dirty="0"/>
          </a:p>
        </p:txBody>
      </p:sp>
      <p:sp>
        <p:nvSpPr>
          <p:cNvPr id="55" name="Text 53"/>
          <p:cNvSpPr/>
          <p:nvPr/>
        </p:nvSpPr>
        <p:spPr>
          <a:xfrm>
            <a:off x="6510528" y="358444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2029, the global short-drama market could reach $100B, far beyond any single domestic market.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9107424" y="2395728"/>
            <a:ext cx="2615184" cy="2011680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72016" y="2542032"/>
            <a:ext cx="438912" cy="320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90304" y="274320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+133%</a:t>
            </a:r>
            <a:endParaRPr lang="en-US" sz="3100" dirty="0"/>
          </a:p>
        </p:txBody>
      </p:sp>
      <p:sp>
        <p:nvSpPr>
          <p:cNvPr id="59" name="Text 57"/>
          <p:cNvSpPr/>
          <p:nvPr/>
        </p:nvSpPr>
        <p:spPr>
          <a:xfrm>
            <a:off x="9308592" y="3584448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2025E cumulative global IAP revenue is up 133% year over year, proving the paid model at scale.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1051560" y="5074920"/>
            <a:ext cx="10058400" cy="566928"/>
          </a:xfrm>
          <a:prstGeom prst="rect">
            <a:avLst/>
          </a:prstGeom>
          <a:solidFill>
            <a:srgbClr val="6366F1">
              <a:alpha val="16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34440" y="5239512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line: the next-stage competition is not who can produce, but who can deliver globally at scale.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6928" y="438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07008" y="4389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PAIN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07008" y="78638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fees and traffic spend eat the margin — producers have only one path left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207008" y="171907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ROI survival line is only 1.1–1.2, global expansion cannot scale unless production costs fall.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68680" y="2331720"/>
            <a:ext cx="4663440" cy="329184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68680" y="2331720"/>
            <a:ext cx="41148" cy="32918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272" y="2478024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FB7185">
              <a:alpha val="30000"/>
            </a:srgbClr>
          </a:solidFill>
          <a:ln w="8890">
            <a:solidFill>
              <a:srgbClr val="FB7185">
                <a:alpha val="8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9848" y="25100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B7185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48" name="Image 0" descr="ppt/icons/warn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538374"/>
            <a:ext cx="137160" cy="13716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316736" y="2553005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1069848" y="289864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margin compression</a:t>
            </a:r>
            <a:endParaRPr lang="en-US" sz="1550" dirty="0"/>
          </a:p>
        </p:txBody>
      </p:sp>
      <p:sp>
        <p:nvSpPr>
          <p:cNvPr id="51" name="Text 48"/>
          <p:cNvSpPr/>
          <p:nvPr/>
        </p:nvSpPr>
        <p:spPr>
          <a:xfrm>
            <a:off x="1069848" y="3319272"/>
            <a:ext cx="42611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take can reach 94%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acquisition often consumes 80%+ of gross revenue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projects survive only at ROI 1.1–1.2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projects face profit pressure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5989320" y="2331720"/>
            <a:ext cx="5257800" cy="3291840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263640" y="2615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to every 100 of revenue</a:t>
            </a:r>
            <a:endParaRPr lang="en-US" sz="1700" dirty="0"/>
          </a:p>
        </p:txBody>
      </p:sp>
      <p:sp>
        <p:nvSpPr>
          <p:cNvPr id="54" name="Text 51"/>
          <p:cNvSpPr/>
          <p:nvPr/>
        </p:nvSpPr>
        <p:spPr>
          <a:xfrm>
            <a:off x="6263640" y="3154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/ channel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7635240" y="3200400"/>
            <a:ext cx="2423160" cy="8229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35240" y="3200400"/>
            <a:ext cx="2277770" cy="8229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241280" y="3154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263640" y="3721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Producer remainder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7635240" y="3767328"/>
            <a:ext cx="2423160" cy="8229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635240" y="3767328"/>
            <a:ext cx="145390" cy="8229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241280" y="3721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263640" y="4288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black hole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635240" y="4334256"/>
            <a:ext cx="2423160" cy="8229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635240" y="4334256"/>
            <a:ext cx="1938528" cy="8229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241280" y="42885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80%+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6263640" y="50109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not a nice-to-have — it is the only way to defend the last 6% of margin.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6928" y="438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07008" y="4389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MAP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07008" y="78638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regions, different monetization logics — one shared bottleneck: localization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207008" y="171907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America and Europe bring high ARPU; Southeast Asia and Latin America bring traffic and IAA growth.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77240" y="2340864"/>
            <a:ext cx="5166360" cy="297180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77240" y="2340864"/>
            <a:ext cx="41148" cy="2971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1832" y="2487168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60A5FA">
              <a:alpha val="30000"/>
            </a:srgbClr>
          </a:solidFill>
          <a:ln w="8890">
            <a:solidFill>
              <a:srgbClr val="60A5FA">
                <a:alpha val="8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8408" y="25191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A5FA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48" name="Image 0" descr="ppt/icons/public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547518"/>
            <a:ext cx="137160" cy="13716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225296" y="2562149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978408" y="290779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America / Europe</a:t>
            </a:r>
            <a:endParaRPr lang="en-US" sz="1550" dirty="0"/>
          </a:p>
        </p:txBody>
      </p:sp>
      <p:sp>
        <p:nvSpPr>
          <p:cNvPr id="51" name="Text 48"/>
          <p:cNvSpPr/>
          <p:nvPr/>
        </p:nvSpPr>
        <p:spPr>
          <a:xfrm>
            <a:off x="978408" y="3328416"/>
            <a:ext cx="476402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women aged 30–60 dominate, with strong appetite for CEO romance, werewolf, and revenge arcs.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ARPU can reach $80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America is projected to exceed $2B in annual revenue by end-2024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6245352" y="2340864"/>
            <a:ext cx="5166360" cy="297180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245352" y="2340864"/>
            <a:ext cx="41148" cy="2971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09944" y="2487168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2DD4BF">
              <a:alpha val="30000"/>
            </a:srgbClr>
          </a:solidFill>
          <a:ln w="8890">
            <a:solidFill>
              <a:srgbClr val="2DD4BF">
                <a:alpha val="82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446520" y="25191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56" name="Image 1" descr="ppt/icons/travel_explor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81" y="2547518"/>
            <a:ext cx="137160" cy="137160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6693408" y="2562149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IAA</a:t>
            </a:r>
            <a:endParaRPr lang="en-US" sz="680" dirty="0"/>
          </a:p>
        </p:txBody>
      </p:sp>
      <p:sp>
        <p:nvSpPr>
          <p:cNvPr id="58" name="Text 54"/>
          <p:cNvSpPr/>
          <p:nvPr/>
        </p:nvSpPr>
        <p:spPr>
          <a:xfrm>
            <a:off x="6446520" y="290779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Southeast Asia / Latin America</a:t>
            </a:r>
            <a:endParaRPr lang="en-US" sz="1550" dirty="0"/>
          </a:p>
        </p:txBody>
      </p:sp>
      <p:sp>
        <p:nvSpPr>
          <p:cNvPr id="59" name="Text 55"/>
          <p:cNvSpPr/>
          <p:nvPr/>
        </p:nvSpPr>
        <p:spPr>
          <a:xfrm>
            <a:off x="6446520" y="3328416"/>
            <a:ext cx="476402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Traffic-heavy markets where free viewing plus ads better fits local purchasing power.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+60% quarterly download growth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IAA share has jumped to 24.7%</a:t>
            </a:r>
            <a:endParaRPr lang="en-US" sz="1020" dirty="0"/>
          </a:p>
        </p:txBody>
      </p:sp>
      <p:sp>
        <p:nvSpPr>
          <p:cNvPr id="60" name="Shape 56"/>
          <p:cNvSpPr/>
          <p:nvPr/>
        </p:nvSpPr>
        <p:spPr>
          <a:xfrm>
            <a:off x="2084832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A78BFA">
              <a:alpha val="12000"/>
            </a:srgbClr>
          </a:solidFill>
          <a:ln w="635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2084832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</a:t>
            </a:r>
            <a:endParaRPr lang="en-US" sz="720" dirty="0"/>
          </a:p>
        </p:txBody>
      </p:sp>
      <p:sp>
        <p:nvSpPr>
          <p:cNvPr id="62" name="Shape 58"/>
          <p:cNvSpPr/>
          <p:nvPr/>
        </p:nvSpPr>
        <p:spPr>
          <a:xfrm>
            <a:off x="2871216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60A5FA">
              <a:alpha val="12000"/>
            </a:srgbClr>
          </a:solidFill>
          <a:ln w="635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2871216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</a:t>
            </a:r>
            <a:endParaRPr lang="en-US" sz="720" dirty="0"/>
          </a:p>
        </p:txBody>
      </p:sp>
      <p:sp>
        <p:nvSpPr>
          <p:cNvPr id="64" name="Shape 60"/>
          <p:cNvSpPr/>
          <p:nvPr/>
        </p:nvSpPr>
        <p:spPr>
          <a:xfrm>
            <a:off x="3657600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12000"/>
            </a:srgbClr>
          </a:solidFill>
          <a:ln w="635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3657600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</a:t>
            </a:r>
            <a:endParaRPr lang="en-US" sz="720" dirty="0"/>
          </a:p>
        </p:txBody>
      </p:sp>
      <p:sp>
        <p:nvSpPr>
          <p:cNvPr id="66" name="Shape 62"/>
          <p:cNvSpPr/>
          <p:nvPr/>
        </p:nvSpPr>
        <p:spPr>
          <a:xfrm>
            <a:off x="4443984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2DD4BF">
              <a:alpha val="12000"/>
            </a:srgbClr>
          </a:solidFill>
          <a:ln w="635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443984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</a:t>
            </a:r>
            <a:endParaRPr lang="en-US" sz="720" dirty="0"/>
          </a:p>
        </p:txBody>
      </p:sp>
      <p:sp>
        <p:nvSpPr>
          <p:cNvPr id="68" name="Shape 64"/>
          <p:cNvSpPr/>
          <p:nvPr/>
        </p:nvSpPr>
        <p:spPr>
          <a:xfrm>
            <a:off x="5230368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FBBF24">
              <a:alpha val="12000"/>
            </a:srgbClr>
          </a:solidFill>
          <a:ln w="635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5230368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6016752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A78BFA">
              <a:alpha val="12000"/>
            </a:srgbClr>
          </a:solidFill>
          <a:ln w="635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016752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</a:t>
            </a:r>
            <a:endParaRPr lang="en-US" sz="720" dirty="0"/>
          </a:p>
        </p:txBody>
      </p:sp>
      <p:sp>
        <p:nvSpPr>
          <p:cNvPr id="72" name="Shape 68"/>
          <p:cNvSpPr/>
          <p:nvPr/>
        </p:nvSpPr>
        <p:spPr>
          <a:xfrm>
            <a:off x="6803136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60A5FA">
              <a:alpha val="12000"/>
            </a:srgbClr>
          </a:solidFill>
          <a:ln w="635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803136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7589520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22D3EE">
              <a:alpha val="12000"/>
            </a:srgbClr>
          </a:solidFill>
          <a:ln w="635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7589520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8375904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2DD4BF">
              <a:alpha val="12000"/>
            </a:srgbClr>
          </a:solidFill>
          <a:ln w="635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8375904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</a:t>
            </a:r>
            <a:endParaRPr lang="en-US" sz="720" dirty="0"/>
          </a:p>
        </p:txBody>
      </p:sp>
      <p:sp>
        <p:nvSpPr>
          <p:cNvPr id="78" name="Shape 74"/>
          <p:cNvSpPr/>
          <p:nvPr/>
        </p:nvSpPr>
        <p:spPr>
          <a:xfrm>
            <a:off x="9162288" y="5705856"/>
            <a:ext cx="493776" cy="292608"/>
          </a:xfrm>
          <a:prstGeom prst="roundRect">
            <a:avLst>
              <a:gd name="adj" fmla="val 18750"/>
            </a:avLst>
          </a:prstGeom>
          <a:solidFill>
            <a:srgbClr val="FBBF24">
              <a:alpha val="12000"/>
            </a:srgbClr>
          </a:solidFill>
          <a:ln w="635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9162288" y="57927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spc="70" kern="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6928" y="438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07008" y="4389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BOTTLENECK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07008" y="78638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"Translated series" dominate 9:1, but mechanical dubbing is killing conversion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207008" y="171907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cost sink in globalization is full redubbing plus partial localized reshoots.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68680" y="2414016"/>
            <a:ext cx="4526280" cy="26974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68680" y="2414016"/>
            <a:ext cx="41148" cy="269748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272" y="2560320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FB7185">
              <a:alpha val="30000"/>
            </a:srgbClr>
          </a:solidFill>
          <a:ln w="8890">
            <a:solidFill>
              <a:srgbClr val="FB7185">
                <a:alpha val="8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9848" y="25923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B7185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48" name="Image 0" descr="ppt/icons/clos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620670"/>
            <a:ext cx="137160" cy="13716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316736" y="2635301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1069848" y="2980944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translated series</a:t>
            </a:r>
            <a:endParaRPr lang="en-US" sz="1550" dirty="0"/>
          </a:p>
        </p:txBody>
      </p:sp>
      <p:sp>
        <p:nvSpPr>
          <p:cNvPr id="51" name="Text 48"/>
          <p:cNvSpPr/>
          <p:nvPr/>
        </p:nvSpPr>
        <p:spPr>
          <a:xfrm>
            <a:off x="1069848" y="3401568"/>
            <a:ext cx="4123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translation, overseas voice actors, manual review, and repeated rework. Crying turns flat; rage becomes plain reading.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America cost per series: $250K–$300K</a:t>
            </a:r>
            <a:endParaRPr lang="en-US" sz="1020" dirty="0"/>
          </a:p>
        </p:txBody>
      </p:sp>
      <p:sp>
        <p:nvSpPr>
          <p:cNvPr id="52" name="Text 49"/>
          <p:cNvSpPr/>
          <p:nvPr/>
        </p:nvSpPr>
        <p:spPr>
          <a:xfrm>
            <a:off x="5650992" y="34930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400" dirty="0"/>
          </a:p>
        </p:txBody>
      </p:sp>
      <p:sp>
        <p:nvSpPr>
          <p:cNvPr id="53" name="Shape 50"/>
          <p:cNvSpPr/>
          <p:nvPr/>
        </p:nvSpPr>
        <p:spPr>
          <a:xfrm>
            <a:off x="6446520" y="2414016"/>
            <a:ext cx="4526280" cy="26974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446520" y="2414016"/>
            <a:ext cx="41148" cy="2697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611112" y="2560320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34D399">
              <a:alpha val="30000"/>
            </a:srgbClr>
          </a:solidFill>
          <a:ln w="8890">
            <a:solidFill>
              <a:srgbClr val="34D399">
                <a:alpha val="82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647688" y="25923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4D399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57" name="Image 1" descr="ppt/icons/bol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949" y="2620670"/>
            <a:ext cx="137160" cy="137160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6894576" y="2635301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680" dirty="0"/>
          </a:p>
        </p:txBody>
      </p:sp>
      <p:sp>
        <p:nvSpPr>
          <p:cNvPr id="59" name="Text 55"/>
          <p:cNvSpPr/>
          <p:nvPr/>
        </p:nvSpPr>
        <p:spPr>
          <a:xfrm>
            <a:off x="6647688" y="2980944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localization</a:t>
            </a:r>
            <a:endParaRPr lang="en-US" sz="1550" dirty="0"/>
          </a:p>
        </p:txBody>
      </p:sp>
      <p:sp>
        <p:nvSpPr>
          <p:cNvPr id="60" name="Text 56"/>
          <p:cNvSpPr/>
          <p:nvPr/>
        </p:nvSpPr>
        <p:spPr>
          <a:xfrm>
            <a:off x="6647688" y="3401568"/>
            <a:ext cx="4123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cloning preserves the character voice, emotion transfer keeps performance consistent, and multilingual launch assets are generated automatically.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70%+ cost reduction, cycle compressed from weeks to days</a:t>
            </a:r>
            <a:endParaRPr lang="en-US" sz="1020" dirty="0"/>
          </a:p>
        </p:txBody>
      </p:sp>
      <p:sp>
        <p:nvSpPr>
          <p:cNvPr id="61" name="Shape 57"/>
          <p:cNvSpPr/>
          <p:nvPr/>
        </p:nvSpPr>
        <p:spPr>
          <a:xfrm>
            <a:off x="1828800" y="5504688"/>
            <a:ext cx="8549640" cy="502920"/>
          </a:xfrm>
          <a:prstGeom prst="rect">
            <a:avLst/>
          </a:prstGeom>
          <a:solidFill>
            <a:srgbClr val="6366F1">
              <a:alpha val="16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2011680" y="566013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Going global is not language replacement — it is minimizing cultural discount.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6928" y="438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07008" y="4389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07008" y="78638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ClawSeries: a zero-human AI production factory built for global expansion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207008" y="171907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script and storyboard to assets, video, and localization, everything runs through one automated pipeline.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2505456"/>
            <a:ext cx="1600200" cy="13533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2505456"/>
            <a:ext cx="16002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22960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51176" y="2505456"/>
            <a:ext cx="1600200" cy="13533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51176" y="2505456"/>
            <a:ext cx="1600200" cy="502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88336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Shots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2688336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416552" y="2505456"/>
            <a:ext cx="1600200" cy="13533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16552" y="2505456"/>
            <a:ext cx="160020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53712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Assets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4553712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81928" y="2505456"/>
            <a:ext cx="1600200" cy="13533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81928" y="2505456"/>
            <a:ext cx="1600200" cy="502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9088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419088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147304" y="2505456"/>
            <a:ext cx="1600200" cy="13533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47304" y="2505456"/>
            <a:ext cx="160020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84464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Dubbing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284464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VOX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012680" y="2505456"/>
            <a:ext cx="1600200" cy="135331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12680" y="2505456"/>
            <a:ext cx="1600200" cy="502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14984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0149840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005840" y="4590288"/>
            <a:ext cx="2331720" cy="80467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70432" y="4736592"/>
            <a:ext cx="438912" cy="320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70432" y="477316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throughput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1170432" y="50657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10x</a:t>
            </a:r>
            <a:endParaRPr lang="en-US" sz="2500" dirty="0"/>
          </a:p>
        </p:txBody>
      </p:sp>
      <p:sp>
        <p:nvSpPr>
          <p:cNvPr id="72" name="Shape 70"/>
          <p:cNvSpPr/>
          <p:nvPr/>
        </p:nvSpPr>
        <p:spPr>
          <a:xfrm>
            <a:off x="3584448" y="4590288"/>
            <a:ext cx="2331720" cy="80467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49040" y="4736592"/>
            <a:ext cx="438912" cy="320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49040" y="477316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asset cost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3749040" y="50657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-90%</a:t>
            </a:r>
            <a:endParaRPr lang="en-US" sz="2500" dirty="0"/>
          </a:p>
        </p:txBody>
      </p:sp>
      <p:sp>
        <p:nvSpPr>
          <p:cNvPr id="76" name="Shape 74"/>
          <p:cNvSpPr/>
          <p:nvPr/>
        </p:nvSpPr>
        <p:spPr>
          <a:xfrm>
            <a:off x="6163056" y="4590288"/>
            <a:ext cx="2331720" cy="80467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27648" y="4736592"/>
            <a:ext cx="438912" cy="320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27648" y="477316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cycle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6327648" y="50657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days → 3 days</a:t>
            </a:r>
            <a:endParaRPr lang="en-US" sz="2400" dirty="0"/>
          </a:p>
        </p:txBody>
      </p:sp>
      <p:sp>
        <p:nvSpPr>
          <p:cNvPr id="80" name="Shape 78"/>
          <p:cNvSpPr/>
          <p:nvPr/>
        </p:nvSpPr>
        <p:spPr>
          <a:xfrm>
            <a:off x="8741664" y="4590288"/>
            <a:ext cx="2331720" cy="804672"/>
          </a:xfrm>
          <a:prstGeom prst="rect">
            <a:avLst/>
          </a:prstGeom>
          <a:solidFill>
            <a:srgbClr val="2A2D34">
              <a:alpha val="97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06256" y="4736592"/>
            <a:ext cx="438912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906256" y="4773168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render target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8906256" y="506577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eps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6928" y="438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07008" y="4389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PROOF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07008" y="786384"/>
            <a:ext cx="987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progress: turning the global-delivery chain into something observable and debuggable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207008" y="1719072"/>
            <a:ext cx="896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hackathon demo is not about generating one video — it is about monitoring, reproducing, and fixing the pipeline continuously.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77240" y="2286000"/>
            <a:ext cx="5230368" cy="13258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77240" y="2286000"/>
            <a:ext cx="41148" cy="1325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1832" y="2432304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22D3EE">
              <a:alpha val="30000"/>
            </a:srgbClr>
          </a:solidFill>
          <a:ln w="8890">
            <a:solidFill>
              <a:srgbClr val="22D3EE">
                <a:alpha val="8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8408" y="24643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D3EE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48" name="Image 0" descr="ppt/icons/setting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492654"/>
            <a:ext cx="137160" cy="13716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225296" y="2507285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978408" y="285292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Tab shot-level monitoring</a:t>
            </a:r>
            <a:endParaRPr lang="en-US" sz="1550" dirty="0"/>
          </a:p>
        </p:txBody>
      </p:sp>
      <p:sp>
        <p:nvSpPr>
          <p:cNvPr id="51" name="Text 48"/>
          <p:cNvSpPr/>
          <p:nvPr/>
        </p:nvSpPr>
        <p:spPr>
          <a:xfrm>
            <a:off x="978408" y="3273552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shot gets its own card, with the first frame, prompt, logs, and status visible in one place.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6236208" y="2286000"/>
            <a:ext cx="5230368" cy="13258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236208" y="2286000"/>
            <a:ext cx="41148" cy="1325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00800" y="2432304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60A5FA">
              <a:alpha val="30000"/>
            </a:srgbClr>
          </a:solidFill>
          <a:ln w="8890">
            <a:solidFill>
              <a:srgbClr val="60A5FA">
                <a:alpha val="82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437376" y="24643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A5FA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56" name="Image 1" descr="ppt/icons/movi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637" y="2492654"/>
            <a:ext cx="137160" cy="137160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6684264" y="2507285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</a:t>
            </a:r>
            <a:endParaRPr lang="en-US" sz="680" dirty="0"/>
          </a:p>
        </p:txBody>
      </p:sp>
      <p:sp>
        <p:nvSpPr>
          <p:cNvPr id="58" name="Text 54"/>
          <p:cNvSpPr/>
          <p:nvPr/>
        </p:nvSpPr>
        <p:spPr>
          <a:xfrm>
            <a:off x="6437376" y="285292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VectorEngine automated video</a:t>
            </a:r>
            <a:endParaRPr lang="en-US" sz="1550" dirty="0"/>
          </a:p>
        </p:txBody>
      </p:sp>
      <p:sp>
        <p:nvSpPr>
          <p:cNvPr id="59" name="Text 55"/>
          <p:cNvSpPr/>
          <p:nvPr/>
        </p:nvSpPr>
        <p:spPr>
          <a:xfrm>
            <a:off x="6437376" y="3273552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first frame is uploaded, it is passed into the vector matrix, supporting both automated generation and manual per-shot reruns.</a:t>
            </a:r>
            <a:endParaRPr lang="en-US" sz="1020" dirty="0"/>
          </a:p>
        </p:txBody>
      </p:sp>
      <p:sp>
        <p:nvSpPr>
          <p:cNvPr id="60" name="Shape 56"/>
          <p:cNvSpPr/>
          <p:nvPr/>
        </p:nvSpPr>
        <p:spPr>
          <a:xfrm>
            <a:off x="777240" y="3895344"/>
            <a:ext cx="5230368" cy="13258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61" name="Shape 57"/>
          <p:cNvSpPr/>
          <p:nvPr/>
        </p:nvSpPr>
        <p:spPr>
          <a:xfrm>
            <a:off x="777240" y="3895344"/>
            <a:ext cx="41148" cy="1325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941832" y="4041648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FBBF24">
              <a:alpha val="30000"/>
            </a:srgbClr>
          </a:solidFill>
          <a:ln w="8890">
            <a:solidFill>
              <a:srgbClr val="FBBF24">
                <a:alpha val="8200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978408" y="40736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BBF24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64" name="Image 2" descr="ppt/icons/translat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4101998"/>
            <a:ext cx="137160" cy="137160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1225296" y="4116629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</a:t>
            </a:r>
            <a:endParaRPr lang="en-US" sz="680" dirty="0"/>
          </a:p>
        </p:txBody>
      </p:sp>
      <p:sp>
        <p:nvSpPr>
          <p:cNvPr id="66" name="Text 61"/>
          <p:cNvSpPr/>
          <p:nvPr/>
        </p:nvSpPr>
        <p:spPr>
          <a:xfrm>
            <a:off x="978408" y="446227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VoxCPM reference-audio retention</a:t>
            </a:r>
            <a:endParaRPr lang="en-US" sz="1550" dirty="0"/>
          </a:p>
        </p:txBody>
      </p:sp>
      <p:sp>
        <p:nvSpPr>
          <p:cNvPr id="67" name="Text 62"/>
          <p:cNvSpPr/>
          <p:nvPr/>
        </p:nvSpPr>
        <p:spPr>
          <a:xfrm>
            <a:off x="978408" y="48828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dubbing segment keeps the original reference slice beside it for voice and emotion comparison.</a:t>
            </a:r>
            <a:endParaRPr lang="en-US" sz="1020" dirty="0"/>
          </a:p>
        </p:txBody>
      </p:sp>
      <p:sp>
        <p:nvSpPr>
          <p:cNvPr id="68" name="Shape 63"/>
          <p:cNvSpPr/>
          <p:nvPr/>
        </p:nvSpPr>
        <p:spPr>
          <a:xfrm>
            <a:off x="6236208" y="3895344"/>
            <a:ext cx="5230368" cy="13258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69" name="Shape 64"/>
          <p:cNvSpPr/>
          <p:nvPr/>
        </p:nvSpPr>
        <p:spPr>
          <a:xfrm>
            <a:off x="6236208" y="3895344"/>
            <a:ext cx="41148" cy="1325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400800" y="4041648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2DD4BF">
              <a:alpha val="30000"/>
            </a:srgbClr>
          </a:solidFill>
          <a:ln w="8890">
            <a:solidFill>
              <a:srgbClr val="2DD4BF">
                <a:alpha val="82000"/>
              </a:srgbClr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437376" y="40736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72" name="Image 3" descr="ppt/icons/public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637" y="4101998"/>
            <a:ext cx="137160" cy="137160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6684264" y="4116629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I18N</a:t>
            </a:r>
            <a:endParaRPr lang="en-US" sz="680" dirty="0"/>
          </a:p>
        </p:txBody>
      </p:sp>
      <p:sp>
        <p:nvSpPr>
          <p:cNvPr id="74" name="Text 68"/>
          <p:cNvSpPr/>
          <p:nvPr/>
        </p:nvSpPr>
        <p:spPr>
          <a:xfrm>
            <a:off x="6437376" y="4462272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presentation and global narrative</a:t>
            </a:r>
            <a:endParaRPr lang="en-US" sz="1550" dirty="0"/>
          </a:p>
        </p:txBody>
      </p:sp>
      <p:sp>
        <p:nvSpPr>
          <p:cNvPr id="75" name="Text 69"/>
          <p:cNvSpPr/>
          <p:nvPr/>
        </p:nvSpPr>
        <p:spPr>
          <a:xfrm>
            <a:off x="6437376" y="4882896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site and the deck now consistently emphasize global distribution rather than a domestic-only production tool.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228"/>
          </a:solidFill>
          <a:ln w="12700">
            <a:solidFill>
              <a:srgbClr val="1F22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086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2259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33888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9104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8521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7043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5564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4086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51129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681728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266944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52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37376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-27432"/>
            <a:ext cx="2176272" cy="457200"/>
          </a:xfrm>
          <a:prstGeom prst="rect">
            <a:avLst/>
          </a:prstGeom>
          <a:solidFill>
            <a:srgbClr val="6366F1">
              <a:alpha val="3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-109728" y="6428232"/>
            <a:ext cx="1481328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658368" y="5010912"/>
            <a:ext cx="2240280" cy="2240280"/>
          </a:xfrm>
          <a:prstGeom prst="arc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16768" y="64190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7F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1440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THESIS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4400" y="129844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stage of global short drama:</a:t>
            </a:r>
            <a:endParaRPr lang="en-US" sz="4200" dirty="0"/>
          </a:p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is the foundation</a:t>
            </a:r>
            <a:endParaRPr lang="en-US" sz="4200" dirty="0"/>
          </a:p>
        </p:txBody>
      </p:sp>
      <p:sp>
        <p:nvSpPr>
          <p:cNvPr id="42" name="Text 40"/>
          <p:cNvSpPr/>
          <p:nvPr/>
        </p:nvSpPr>
        <p:spPr>
          <a:xfrm>
            <a:off x="914400" y="290779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Whoever operationalizes localization first will turn China's IP content advantage into global growth advantage.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4400" y="3886200"/>
            <a:ext cx="3154680" cy="13258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14400" y="3886200"/>
            <a:ext cx="41148" cy="1325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8992" y="4032504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60A5FA">
              <a:alpha val="30000"/>
            </a:srgbClr>
          </a:solidFill>
          <a:ln w="8890">
            <a:solidFill>
              <a:srgbClr val="60A5FA">
                <a:alpha val="8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5568" y="40645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A5FA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47" name="Image 0" descr="ppt/icons/public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9" y="4092854"/>
            <a:ext cx="137160" cy="13716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362456" y="4107485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1115568" y="4453128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Capture global upside</a:t>
            </a:r>
            <a:endParaRPr lang="en-US" sz="1550" dirty="0"/>
          </a:p>
        </p:txBody>
      </p:sp>
      <p:sp>
        <p:nvSpPr>
          <p:cNvPr id="50" name="Text 47"/>
          <p:cNvSpPr/>
          <p:nvPr/>
        </p:nvSpPr>
        <p:spPr>
          <a:xfrm>
            <a:off x="1115568" y="4873752"/>
            <a:ext cx="2752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2025E overseas IAP revenue reaches $23.29B, while downloads are still expanding fast.</a:t>
            </a:r>
            <a:endParaRPr lang="en-US" sz="1020" dirty="0"/>
          </a:p>
        </p:txBody>
      </p:sp>
      <p:sp>
        <p:nvSpPr>
          <p:cNvPr id="51" name="Shape 48"/>
          <p:cNvSpPr/>
          <p:nvPr/>
        </p:nvSpPr>
        <p:spPr>
          <a:xfrm>
            <a:off x="4343400" y="3886200"/>
            <a:ext cx="3154680" cy="13258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43400" y="3886200"/>
            <a:ext cx="41148" cy="1325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507992" y="4032504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FBBF24">
              <a:alpha val="30000"/>
            </a:srgbClr>
          </a:solidFill>
          <a:ln w="8890">
            <a:solidFill>
              <a:srgbClr val="FBBF24">
                <a:alpha val="82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44568" y="40645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BBF24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55" name="Image 1" descr="ppt/icons/warnin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829" y="4092854"/>
            <a:ext cx="137160" cy="137160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4791456" y="4107485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80" dirty="0"/>
          </a:p>
        </p:txBody>
      </p:sp>
      <p:sp>
        <p:nvSpPr>
          <p:cNvPr id="57" name="Text 53"/>
          <p:cNvSpPr/>
          <p:nvPr/>
        </p:nvSpPr>
        <p:spPr>
          <a:xfrm>
            <a:off x="4544568" y="4453128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Protect unit economics</a:t>
            </a:r>
            <a:endParaRPr lang="en-US" sz="1550" dirty="0"/>
          </a:p>
        </p:txBody>
      </p:sp>
      <p:sp>
        <p:nvSpPr>
          <p:cNvPr id="58" name="Text 54"/>
          <p:cNvSpPr/>
          <p:nvPr/>
        </p:nvSpPr>
        <p:spPr>
          <a:xfrm>
            <a:off x="4544568" y="4873752"/>
            <a:ext cx="2752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automation to offset platform tax and the traffic-spend black hole.</a:t>
            </a:r>
            <a:endParaRPr lang="en-US" sz="1020" dirty="0"/>
          </a:p>
        </p:txBody>
      </p:sp>
      <p:sp>
        <p:nvSpPr>
          <p:cNvPr id="59" name="Shape 55"/>
          <p:cNvSpPr/>
          <p:nvPr/>
        </p:nvSpPr>
        <p:spPr>
          <a:xfrm>
            <a:off x="7772400" y="3886200"/>
            <a:ext cx="3154680" cy="1325880"/>
          </a:xfrm>
          <a:prstGeom prst="rect">
            <a:avLst/>
          </a:prstGeom>
          <a:solidFill>
            <a:srgbClr val="2A2D34">
              <a:alpha val="96000"/>
            </a:srgbClr>
          </a:solidFill>
          <a:ln w="9525">
            <a:solidFill>
              <a:srgbClr val="4A4D56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60" name="Shape 56"/>
          <p:cNvSpPr/>
          <p:nvPr/>
        </p:nvSpPr>
        <p:spPr>
          <a:xfrm>
            <a:off x="7772400" y="3886200"/>
            <a:ext cx="41148" cy="1325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936992" y="4032504"/>
            <a:ext cx="877824" cy="265176"/>
          </a:xfrm>
          <a:prstGeom prst="roundRect">
            <a:avLst>
              <a:gd name="adj" fmla="val 17241"/>
            </a:avLst>
          </a:prstGeom>
          <a:solidFill>
            <a:srgbClr val="2DD4BF">
              <a:alpha val="30000"/>
            </a:srgbClr>
          </a:solidFill>
          <a:ln w="8890">
            <a:solidFill>
              <a:srgbClr val="2DD4BF">
                <a:alpha val="8200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973568" y="40645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90000"/>
            </a:srgbClr>
          </a:solidFill>
          <a:ln w="4445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63" name="Image 2" descr="ppt/icons/translat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829" y="4092854"/>
            <a:ext cx="137160" cy="137160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8220456" y="4107485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80" dirty="0"/>
          </a:p>
        </p:txBody>
      </p:sp>
      <p:sp>
        <p:nvSpPr>
          <p:cNvPr id="65" name="Text 60"/>
          <p:cNvSpPr/>
          <p:nvPr/>
        </p:nvSpPr>
        <p:spPr>
          <a:xfrm>
            <a:off x="7973568" y="4453128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Cross cultural discount</a:t>
            </a:r>
            <a:endParaRPr lang="en-US" sz="1550" dirty="0"/>
          </a:p>
        </p:txBody>
      </p:sp>
      <p:sp>
        <p:nvSpPr>
          <p:cNvPr id="66" name="Text 61"/>
          <p:cNvSpPr/>
          <p:nvPr/>
        </p:nvSpPr>
        <p:spPr>
          <a:xfrm>
            <a:off x="7973568" y="4873752"/>
            <a:ext cx="2752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9BB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voiceprint, emotion transfer, and multilingual assets to complete deep localization.</a:t>
            </a:r>
            <a:endParaRPr lang="en-US" sz="1020" dirty="0"/>
          </a:p>
        </p:txBody>
      </p:sp>
      <p:sp>
        <p:nvSpPr>
          <p:cNvPr id="67" name="Shape 62"/>
          <p:cNvSpPr/>
          <p:nvPr/>
        </p:nvSpPr>
        <p:spPr>
          <a:xfrm>
            <a:off x="914400" y="5806440"/>
            <a:ext cx="10012680" cy="393192"/>
          </a:xfrm>
          <a:prstGeom prst="rect">
            <a:avLst/>
          </a:prstGeom>
          <a:solidFill>
            <a:srgbClr val="6366F1">
              <a:alpha val="18000"/>
            </a:srgbClr>
          </a:solidFill>
          <a:ln w="9525">
            <a:solidFill>
              <a:srgbClr val="4A4D56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1097280" y="5925312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ClawSeries = Global Short Drama Autopilot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ClawSeries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ClawSeries hackathon pitch (EN)</dc:subject>
  <dc:creator>ClawSeries</dc:creator>
  <cp:lastModifiedBy>ClawSeries</cp:lastModifiedBy>
  <cp:revision>1</cp:revision>
  <dcterms:created xsi:type="dcterms:W3CDTF">2026-04-25T07:36:48Z</dcterms:created>
  <dcterms:modified xsi:type="dcterms:W3CDTF">2026-04-25T07:36:48Z</dcterms:modified>
</cp:coreProperties>
</file>