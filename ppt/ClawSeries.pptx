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开场强调：ClawSeries 不是又一个 AI 短剧工具，而是面向出海的自动化制片与本地化工厂。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短剧出海进入主战场。中国公司已经证明内容和运营优势，下一步是规模交付。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利润结构决定了 AI 必须做成本改造，而不是单纯做创意辅助。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两个区域逻辑不同，但共同瓶颈都是本地化：声音、语气、文化语境和投放素材。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翻译剧占多数，但机械声音会伤害转化率。关键是把声纹、情绪、口型和投放素材都自动化。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ClawSeries 是完整流水线，不是单点工具。流水线才能改变成本结构。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这些进展证明我们在做可运营、可调试的生产系统，而不是一次性 demo。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最后强调：本地化流水线是短剧出海的底座。ClawSeries 想成为 Global Short Drama Autopilot。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228"/>
          </a:solidFill>
          <a:ln w="12700">
            <a:solidFill>
              <a:srgbClr val="1F222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43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5564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4086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1129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651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6694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2259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0780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345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4867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3388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1910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8521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7043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5564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34086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92608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51129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09651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68172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26694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85216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43737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12680" y="-27432"/>
            <a:ext cx="2176272" cy="457200"/>
          </a:xfrm>
          <a:prstGeom prst="rect">
            <a:avLst/>
          </a:prstGeom>
          <a:solidFill>
            <a:srgbClr val="6366F1">
              <a:alpha val="32000"/>
            </a:srgbClr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-109728" y="6428232"/>
            <a:ext cx="1481328" cy="411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-658368" y="5010912"/>
            <a:ext cx="2240280" cy="2240280"/>
          </a:xfrm>
          <a:prstGeom prst="arc">
            <a:avLst/>
          </a:prstGeom>
          <a:solidFill>
            <a:srgbClr val="22D3EE">
              <a:alpha val="8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16768" y="641908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08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2487168" y="84124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HACKATHON / GLOBAL SHORT DRAMA INFRASTRUCTURE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502152" y="1161288"/>
            <a:ext cx="521208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CLAW</a:t>
            </a:r>
            <a:endParaRPr lang="en-US" sz="6400" dirty="0"/>
          </a:p>
          <a:p>
            <a:pPr algn="ctr"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SERIES</a:t>
            </a:r>
            <a:endParaRPr lang="en-US" sz="6400" dirty="0"/>
          </a:p>
        </p:txBody>
      </p:sp>
      <p:sp>
        <p:nvSpPr>
          <p:cNvPr id="42" name="Text 40"/>
          <p:cNvSpPr/>
          <p:nvPr/>
        </p:nvSpPr>
        <p:spPr>
          <a:xfrm>
            <a:off x="2606040" y="3383280"/>
            <a:ext cx="6995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出海不是翻译，是工业化交付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2377440" y="3840480"/>
            <a:ext cx="7424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3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用零人 AI 制片工厂，把中国短剧的内容优势转化为全球化发行能力。</a:t>
            </a:r>
            <a:endParaRPr lang="en-US" sz="1330" dirty="0"/>
          </a:p>
        </p:txBody>
      </p:sp>
      <p:sp>
        <p:nvSpPr>
          <p:cNvPr id="44" name="Shape 42"/>
          <p:cNvSpPr/>
          <p:nvPr/>
        </p:nvSpPr>
        <p:spPr>
          <a:xfrm>
            <a:off x="2423160" y="4773168"/>
            <a:ext cx="2468880" cy="89611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587752" y="4919472"/>
            <a:ext cx="438912" cy="3200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87752" y="4956048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全球短剧应用收入占比</a:t>
            </a:r>
            <a:endParaRPr lang="en-US" sz="780" dirty="0"/>
          </a:p>
        </p:txBody>
      </p:sp>
      <p:sp>
        <p:nvSpPr>
          <p:cNvPr id="47" name="Text 45"/>
          <p:cNvSpPr/>
          <p:nvPr/>
        </p:nvSpPr>
        <p:spPr>
          <a:xfrm>
            <a:off x="2587752" y="524865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A78B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94.93%</a:t>
            </a:r>
            <a:endParaRPr lang="en-US" sz="2700" dirty="0"/>
          </a:p>
        </p:txBody>
      </p:sp>
      <p:sp>
        <p:nvSpPr>
          <p:cNvPr id="48" name="Shape 46"/>
          <p:cNvSpPr/>
          <p:nvPr/>
        </p:nvSpPr>
        <p:spPr>
          <a:xfrm>
            <a:off x="5102352" y="4773168"/>
            <a:ext cx="2468880" cy="89611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66944" y="4919472"/>
            <a:ext cx="438912" cy="32004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66944" y="4956048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2025E 海外内购收入</a:t>
            </a:r>
            <a:endParaRPr lang="en-US" sz="780" dirty="0"/>
          </a:p>
        </p:txBody>
      </p:sp>
      <p:sp>
        <p:nvSpPr>
          <p:cNvPr id="51" name="Text 49"/>
          <p:cNvSpPr/>
          <p:nvPr/>
        </p:nvSpPr>
        <p:spPr>
          <a:xfrm>
            <a:off x="5266944" y="524865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$23.29B</a:t>
            </a:r>
            <a:endParaRPr lang="en-US" sz="2700" dirty="0"/>
          </a:p>
        </p:txBody>
      </p:sp>
      <p:sp>
        <p:nvSpPr>
          <p:cNvPr id="52" name="Shape 50"/>
          <p:cNvSpPr/>
          <p:nvPr/>
        </p:nvSpPr>
        <p:spPr>
          <a:xfrm>
            <a:off x="7781544" y="4773168"/>
            <a:ext cx="2468880" cy="89611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46136" y="4919472"/>
            <a:ext cx="438912" cy="3200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946136" y="4956048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核心本地化目标：重配音自动化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7946136" y="524865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228"/>
          </a:solidFill>
          <a:ln w="12700">
            <a:solidFill>
              <a:srgbClr val="1F222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43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5564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4086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1129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651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6694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2259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0780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345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4867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3388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1910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8521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7043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5564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34086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92608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51129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09651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68172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26694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85216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43737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12680" y="-27432"/>
            <a:ext cx="2176272" cy="457200"/>
          </a:xfrm>
          <a:prstGeom prst="rect">
            <a:avLst/>
          </a:prstGeom>
          <a:solidFill>
            <a:srgbClr val="6366F1">
              <a:alpha val="32000"/>
            </a:srgbClr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-109728" y="6428232"/>
            <a:ext cx="1481328" cy="411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-658368" y="5010912"/>
            <a:ext cx="2240280" cy="2240280"/>
          </a:xfrm>
          <a:prstGeom prst="arc">
            <a:avLst/>
          </a:prstGeom>
          <a:solidFill>
            <a:srgbClr val="22D3EE">
              <a:alpha val="8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16768" y="641908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08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66928" y="43891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07008" y="43891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207008" y="786384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短剧出海已经不是试水，而是主战场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1207008" y="1719072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中国短剧的供给能力，正在遇到全球移动影视消费的结构性迁移。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713232" y="2395728"/>
            <a:ext cx="2615184" cy="2011680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77824" y="2542032"/>
            <a:ext cx="438912" cy="3200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6112" y="2743200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A78BF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373.9亿</a:t>
            </a:r>
            <a:endParaRPr lang="en-US" sz="2900" dirty="0"/>
          </a:p>
        </p:txBody>
      </p:sp>
      <p:sp>
        <p:nvSpPr>
          <p:cNvPr id="47" name="Text 45"/>
          <p:cNvSpPr/>
          <p:nvPr/>
        </p:nvSpPr>
        <p:spPr>
          <a:xfrm>
            <a:off x="914400" y="3584448"/>
            <a:ext cx="2212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2023 中国短剧市场规模，已经超过国内电影票房总额 50%。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3511296" y="2395728"/>
            <a:ext cx="2615184" cy="2011680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75888" y="2542032"/>
            <a:ext cx="438912" cy="32004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94176" y="2743200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60A5F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3.7亿次</a:t>
            </a:r>
            <a:endParaRPr lang="en-US" sz="2900" dirty="0"/>
          </a:p>
        </p:txBody>
      </p:sp>
      <p:sp>
        <p:nvSpPr>
          <p:cNvPr id="51" name="Text 49"/>
          <p:cNvSpPr/>
          <p:nvPr/>
        </p:nvSpPr>
        <p:spPr>
          <a:xfrm>
            <a:off x="3712464" y="3584448"/>
            <a:ext cx="2212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 Q1 全球下载量，同比增长 6.2 倍，流量仍在扩张。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6309360" y="2395728"/>
            <a:ext cx="2615184" cy="2011680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73952" y="2542032"/>
            <a:ext cx="438912" cy="3200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92240" y="2743200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$100B</a:t>
            </a:r>
            <a:endParaRPr lang="en-US" sz="3100" dirty="0"/>
          </a:p>
        </p:txBody>
      </p:sp>
      <p:sp>
        <p:nvSpPr>
          <p:cNvPr id="55" name="Text 53"/>
          <p:cNvSpPr/>
          <p:nvPr/>
        </p:nvSpPr>
        <p:spPr>
          <a:xfrm>
            <a:off x="6510528" y="3584448"/>
            <a:ext cx="2212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2029 全球短剧长期潜力预测，出海空间远大于单一国内市场。</a:t>
            </a:r>
            <a:endParaRPr lang="en-US" sz="1020" dirty="0"/>
          </a:p>
        </p:txBody>
      </p:sp>
      <p:sp>
        <p:nvSpPr>
          <p:cNvPr id="56" name="Shape 54"/>
          <p:cNvSpPr/>
          <p:nvPr/>
        </p:nvSpPr>
        <p:spPr>
          <a:xfrm>
            <a:off x="9107424" y="2395728"/>
            <a:ext cx="2615184" cy="2011680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272016" y="2542032"/>
            <a:ext cx="438912" cy="3200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290304" y="2743200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+133%</a:t>
            </a:r>
            <a:endParaRPr lang="en-US" sz="3100" dirty="0"/>
          </a:p>
        </p:txBody>
      </p:sp>
      <p:sp>
        <p:nvSpPr>
          <p:cNvPr id="59" name="Text 57"/>
          <p:cNvSpPr/>
          <p:nvPr/>
        </p:nvSpPr>
        <p:spPr>
          <a:xfrm>
            <a:off x="9308592" y="3584448"/>
            <a:ext cx="2212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2025E 全球累计内购收入同比增长，付费模型已经被验证。</a:t>
            </a:r>
            <a:endParaRPr lang="en-US" sz="1020" dirty="0"/>
          </a:p>
        </p:txBody>
      </p:sp>
      <p:sp>
        <p:nvSpPr>
          <p:cNvPr id="60" name="Shape 58"/>
          <p:cNvSpPr/>
          <p:nvPr/>
        </p:nvSpPr>
        <p:spPr>
          <a:xfrm>
            <a:off x="1051560" y="5074920"/>
            <a:ext cx="10058400" cy="566928"/>
          </a:xfrm>
          <a:prstGeom prst="rect">
            <a:avLst/>
          </a:prstGeom>
          <a:solidFill>
            <a:srgbClr val="6366F1">
              <a:alpha val="16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234440" y="5239512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结论：下半场的核心竞争，不是“会不会拍”，而是“能不能全球化规模交付”。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228"/>
          </a:solidFill>
          <a:ln w="12700">
            <a:solidFill>
              <a:srgbClr val="1F222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43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5564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4086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1129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651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6694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2259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0780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345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4867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3388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1910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8521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7043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5564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34086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92608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51129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09651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68172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26694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85216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43737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12680" y="-27432"/>
            <a:ext cx="2176272" cy="457200"/>
          </a:xfrm>
          <a:prstGeom prst="rect">
            <a:avLst/>
          </a:prstGeom>
          <a:solidFill>
            <a:srgbClr val="6366F1">
              <a:alpha val="32000"/>
            </a:srgbClr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-109728" y="6428232"/>
            <a:ext cx="1481328" cy="411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-658368" y="5010912"/>
            <a:ext cx="2240280" cy="2240280"/>
          </a:xfrm>
          <a:prstGeom prst="arc">
            <a:avLst/>
          </a:prstGeom>
          <a:solidFill>
            <a:srgbClr val="22D3EE">
              <a:alpha val="8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16768" y="641908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08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66928" y="43891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07008" y="43891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STRUCTURAL PAIN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207008" y="786384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利润被平台和投流吞噬，制作方只剩一条路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1207008" y="1719072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 ROI 生存线只有 1.1–1.2，生产成本不降，出海就无法规模化。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68680" y="2331720"/>
            <a:ext cx="4663440" cy="329184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68680" y="2331720"/>
            <a:ext cx="41148" cy="329184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3272" y="2478024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FB7185">
              <a:alpha val="30000"/>
            </a:srgbClr>
          </a:solidFill>
          <a:ln w="8890">
            <a:solidFill>
              <a:srgbClr val="FB7185">
                <a:alpha val="82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69848" y="251002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B7185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48" name="Image 0" descr="ppt/icons/warnin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109" y="2538374"/>
            <a:ext cx="137160" cy="13716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1316736" y="2553005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680" dirty="0"/>
          </a:p>
        </p:txBody>
      </p:sp>
      <p:sp>
        <p:nvSpPr>
          <p:cNvPr id="50" name="Text 47"/>
          <p:cNvSpPr/>
          <p:nvPr/>
        </p:nvSpPr>
        <p:spPr>
          <a:xfrm>
            <a:off x="1069848" y="289864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结构性利润压缩</a:t>
            </a:r>
            <a:endParaRPr lang="en-US" sz="1550" dirty="0"/>
          </a:p>
        </p:txBody>
      </p:sp>
      <p:sp>
        <p:nvSpPr>
          <p:cNvPr id="51" name="Text 48"/>
          <p:cNvSpPr/>
          <p:nvPr/>
        </p:nvSpPr>
        <p:spPr>
          <a:xfrm>
            <a:off x="1069848" y="3319272"/>
            <a:ext cx="4261104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平台抽成比例可高达 94%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投流成本普遍占总票房 80%+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多数项目生死线：ROI 1.1–1.2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80% 项目面临亏损压力</a:t>
            </a:r>
            <a:endParaRPr lang="en-US" sz="1020" dirty="0"/>
          </a:p>
        </p:txBody>
      </p:sp>
      <p:sp>
        <p:nvSpPr>
          <p:cNvPr id="52" name="Shape 49"/>
          <p:cNvSpPr/>
          <p:nvPr/>
        </p:nvSpPr>
        <p:spPr>
          <a:xfrm>
            <a:off x="5989320" y="2331720"/>
            <a:ext cx="5257800" cy="3291840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6263640" y="2615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票房 100 的分配压力</a:t>
            </a:r>
            <a:endParaRPr lang="en-US" sz="1700" dirty="0"/>
          </a:p>
        </p:txBody>
      </p:sp>
      <p:sp>
        <p:nvSpPr>
          <p:cNvPr id="54" name="Text 51"/>
          <p:cNvSpPr/>
          <p:nvPr/>
        </p:nvSpPr>
        <p:spPr>
          <a:xfrm>
            <a:off x="6263640" y="31546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平台 / 渠道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7635240" y="3200400"/>
            <a:ext cx="2423160" cy="82296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635240" y="3200400"/>
            <a:ext cx="2277770" cy="8229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241280" y="315468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6263640" y="37216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制作方剩余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35240" y="3767328"/>
            <a:ext cx="2423160" cy="82296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635240" y="3767328"/>
            <a:ext cx="145390" cy="8229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0241280" y="3721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6263640" y="42885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投流黑洞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7635240" y="4334256"/>
            <a:ext cx="2423160" cy="82296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635240" y="4334256"/>
            <a:ext cx="1938528" cy="8229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0241280" y="428853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80%+</a:t>
            </a:r>
            <a:endParaRPr lang="en-US" sz="900" dirty="0"/>
          </a:p>
        </p:txBody>
      </p:sp>
      <p:sp>
        <p:nvSpPr>
          <p:cNvPr id="66" name="Text 63"/>
          <p:cNvSpPr/>
          <p:nvPr/>
        </p:nvSpPr>
        <p:spPr>
          <a:xfrm>
            <a:off x="6263640" y="50109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不是锦上添花，而是“剩下 6%”里的利润保卫战。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228"/>
          </a:solidFill>
          <a:ln w="12700">
            <a:solidFill>
              <a:srgbClr val="1F222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43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5564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4086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1129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651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6694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2259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0780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345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4867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3388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1910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8521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7043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5564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34086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92608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51129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09651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68172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26694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85216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43737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12680" y="-27432"/>
            <a:ext cx="2176272" cy="457200"/>
          </a:xfrm>
          <a:prstGeom prst="rect">
            <a:avLst/>
          </a:prstGeom>
          <a:solidFill>
            <a:srgbClr val="6366F1">
              <a:alpha val="32000"/>
            </a:srgbClr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-109728" y="6428232"/>
            <a:ext cx="1481328" cy="411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-658368" y="5010912"/>
            <a:ext cx="2240280" cy="2240280"/>
          </a:xfrm>
          <a:prstGeom prst="arc">
            <a:avLst/>
          </a:prstGeom>
          <a:solidFill>
            <a:srgbClr val="22D3EE">
              <a:alpha val="8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16768" y="641908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08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66928" y="43891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07008" y="43891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MAP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207008" y="786384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不同区域，不同变现逻辑；共同痛点是本地化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1207008" y="1719072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北美/欧洲贡献高 ARPU，东南亚/拉美贡献流量与 IAA 增长。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777240" y="2340864"/>
            <a:ext cx="5166360" cy="297180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77240" y="2340864"/>
            <a:ext cx="41148" cy="29718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1832" y="2487168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60A5FA">
              <a:alpha val="30000"/>
            </a:srgbClr>
          </a:solidFill>
          <a:ln w="8890">
            <a:solidFill>
              <a:srgbClr val="60A5FA">
                <a:alpha val="82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8408" y="2519172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60A5FA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48" name="Image 0" descr="ppt/icons/public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669" y="2547518"/>
            <a:ext cx="137160" cy="13716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1225296" y="2562149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ARPU</a:t>
            </a:r>
            <a:endParaRPr lang="en-US" sz="680" dirty="0"/>
          </a:p>
        </p:txBody>
      </p:sp>
      <p:sp>
        <p:nvSpPr>
          <p:cNvPr id="50" name="Text 47"/>
          <p:cNvSpPr/>
          <p:nvPr/>
        </p:nvSpPr>
        <p:spPr>
          <a:xfrm>
            <a:off x="978408" y="2907792"/>
            <a:ext cx="4764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北美 / 欧洲</a:t>
            </a:r>
            <a:endParaRPr lang="en-US" sz="1550" dirty="0"/>
          </a:p>
        </p:txBody>
      </p:sp>
      <p:sp>
        <p:nvSpPr>
          <p:cNvPr id="51" name="Text 48"/>
          <p:cNvSpPr/>
          <p:nvPr/>
        </p:nvSpPr>
        <p:spPr>
          <a:xfrm>
            <a:off x="978408" y="3328416"/>
            <a:ext cx="476402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30–60 岁城市女性为主，偏好霸总、狼人、复仇等强情绪母题。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$80 月度 ARPU 可达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$2B 2024 年底北美年收入预估</a:t>
            </a:r>
            <a:endParaRPr lang="en-US" sz="1020" dirty="0"/>
          </a:p>
        </p:txBody>
      </p:sp>
      <p:sp>
        <p:nvSpPr>
          <p:cNvPr id="52" name="Shape 49"/>
          <p:cNvSpPr/>
          <p:nvPr/>
        </p:nvSpPr>
        <p:spPr>
          <a:xfrm>
            <a:off x="6245352" y="2340864"/>
            <a:ext cx="5166360" cy="297180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6245352" y="2340864"/>
            <a:ext cx="41148" cy="29718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>
                <a:alpha val="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409944" y="2487168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2DD4BF">
              <a:alpha val="30000"/>
            </a:srgbClr>
          </a:solidFill>
          <a:ln w="8890">
            <a:solidFill>
              <a:srgbClr val="2DD4BF">
                <a:alpha val="82000"/>
              </a:srgbClr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46520" y="2519172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DD4BF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56" name="Image 1" descr="ppt/icons/travel_explor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781" y="2547518"/>
            <a:ext cx="137160" cy="137160"/>
          </a:xfrm>
          <a:prstGeom prst="rect">
            <a:avLst/>
          </a:prstGeom>
        </p:spPr>
      </p:pic>
      <p:sp>
        <p:nvSpPr>
          <p:cNvPr id="57" name="Text 53"/>
          <p:cNvSpPr/>
          <p:nvPr/>
        </p:nvSpPr>
        <p:spPr>
          <a:xfrm>
            <a:off x="6693408" y="2562149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IAA</a:t>
            </a:r>
            <a:endParaRPr lang="en-US" sz="680" dirty="0"/>
          </a:p>
        </p:txBody>
      </p:sp>
      <p:sp>
        <p:nvSpPr>
          <p:cNvPr id="58" name="Text 54"/>
          <p:cNvSpPr/>
          <p:nvPr/>
        </p:nvSpPr>
        <p:spPr>
          <a:xfrm>
            <a:off x="6446520" y="2907792"/>
            <a:ext cx="4764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东南亚 / 拉美</a:t>
            </a:r>
            <a:endParaRPr lang="en-US" sz="1550" dirty="0"/>
          </a:p>
        </p:txBody>
      </p:sp>
      <p:sp>
        <p:nvSpPr>
          <p:cNvPr id="59" name="Text 55"/>
          <p:cNvSpPr/>
          <p:nvPr/>
        </p:nvSpPr>
        <p:spPr>
          <a:xfrm>
            <a:off x="6446520" y="3328416"/>
            <a:ext cx="476402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流量高地，免费看剧 + 广告解锁正在适配当地消费能力。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+60% 下载量单季度涨幅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24.7% IAA 下载占比跃升</a:t>
            </a:r>
            <a:endParaRPr lang="en-US" sz="1020" dirty="0"/>
          </a:p>
        </p:txBody>
      </p:sp>
      <p:sp>
        <p:nvSpPr>
          <p:cNvPr id="60" name="Shape 56"/>
          <p:cNvSpPr/>
          <p:nvPr/>
        </p:nvSpPr>
        <p:spPr>
          <a:xfrm>
            <a:off x="2084832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A78BFA">
              <a:alpha val="12000"/>
            </a:srgbClr>
          </a:solidFill>
          <a:ln w="6350">
            <a:solidFill>
              <a:srgbClr val="A78BFA">
                <a:alpha val="6000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2084832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A78B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</a:t>
            </a:r>
            <a:endParaRPr lang="en-US" sz="720" dirty="0"/>
          </a:p>
        </p:txBody>
      </p:sp>
      <p:sp>
        <p:nvSpPr>
          <p:cNvPr id="62" name="Shape 58"/>
          <p:cNvSpPr/>
          <p:nvPr/>
        </p:nvSpPr>
        <p:spPr>
          <a:xfrm>
            <a:off x="2871216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60A5FA">
              <a:alpha val="12000"/>
            </a:srgbClr>
          </a:solidFill>
          <a:ln w="6350">
            <a:solidFill>
              <a:srgbClr val="60A5FA">
                <a:alpha val="6000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2871216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JP</a:t>
            </a:r>
            <a:endParaRPr lang="en-US" sz="720" dirty="0"/>
          </a:p>
        </p:txBody>
      </p:sp>
      <p:sp>
        <p:nvSpPr>
          <p:cNvPr id="64" name="Shape 60"/>
          <p:cNvSpPr/>
          <p:nvPr/>
        </p:nvSpPr>
        <p:spPr>
          <a:xfrm>
            <a:off x="3657600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22D3EE">
              <a:alpha val="12000"/>
            </a:srgbClr>
          </a:solidFill>
          <a:ln w="6350">
            <a:solidFill>
              <a:srgbClr val="22D3EE">
                <a:alpha val="60000"/>
              </a:srgbClr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3657600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</a:t>
            </a:r>
            <a:endParaRPr lang="en-US" sz="720" dirty="0"/>
          </a:p>
        </p:txBody>
      </p:sp>
      <p:sp>
        <p:nvSpPr>
          <p:cNvPr id="66" name="Shape 62"/>
          <p:cNvSpPr/>
          <p:nvPr/>
        </p:nvSpPr>
        <p:spPr>
          <a:xfrm>
            <a:off x="4443984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2DD4BF">
              <a:alpha val="12000"/>
            </a:srgbClr>
          </a:solidFill>
          <a:ln w="635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4443984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2DD4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</a:t>
            </a:r>
            <a:endParaRPr lang="en-US" sz="720" dirty="0"/>
          </a:p>
        </p:txBody>
      </p:sp>
      <p:sp>
        <p:nvSpPr>
          <p:cNvPr id="68" name="Shape 64"/>
          <p:cNvSpPr/>
          <p:nvPr/>
        </p:nvSpPr>
        <p:spPr>
          <a:xfrm>
            <a:off x="5230368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FBBF24">
              <a:alpha val="12000"/>
            </a:srgbClr>
          </a:solidFill>
          <a:ln w="635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5230368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6016752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A78BFA">
              <a:alpha val="12000"/>
            </a:srgbClr>
          </a:solidFill>
          <a:ln w="6350">
            <a:solidFill>
              <a:srgbClr val="A78BFA">
                <a:alpha val="6000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6016752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A78B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</a:t>
            </a:r>
            <a:endParaRPr lang="en-US" sz="720" dirty="0"/>
          </a:p>
        </p:txBody>
      </p:sp>
      <p:sp>
        <p:nvSpPr>
          <p:cNvPr id="72" name="Shape 68"/>
          <p:cNvSpPr/>
          <p:nvPr/>
        </p:nvSpPr>
        <p:spPr>
          <a:xfrm>
            <a:off x="6803136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60A5FA">
              <a:alpha val="12000"/>
            </a:srgbClr>
          </a:solidFill>
          <a:ln w="6350">
            <a:solidFill>
              <a:srgbClr val="60A5FA">
                <a:alpha val="60000"/>
              </a:srgbClr>
            </a:solidFill>
            <a:prstDash val="solid"/>
          </a:ln>
        </p:spPr>
      </p:sp>
      <p:sp>
        <p:nvSpPr>
          <p:cNvPr id="73" name="Text 69"/>
          <p:cNvSpPr/>
          <p:nvPr/>
        </p:nvSpPr>
        <p:spPr>
          <a:xfrm>
            <a:off x="6803136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60A5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7589520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22D3EE">
              <a:alpha val="12000"/>
            </a:srgbClr>
          </a:solidFill>
          <a:ln w="6350">
            <a:solidFill>
              <a:srgbClr val="22D3EE">
                <a:alpha val="6000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7589520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8375904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2DD4BF">
              <a:alpha val="12000"/>
            </a:srgbClr>
          </a:solidFill>
          <a:ln w="635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8375904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2DD4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CN</a:t>
            </a:r>
            <a:endParaRPr lang="en-US" sz="720" dirty="0"/>
          </a:p>
        </p:txBody>
      </p:sp>
      <p:sp>
        <p:nvSpPr>
          <p:cNvPr id="78" name="Shape 74"/>
          <p:cNvSpPr/>
          <p:nvPr/>
        </p:nvSpPr>
        <p:spPr>
          <a:xfrm>
            <a:off x="9162288" y="5705856"/>
            <a:ext cx="493776" cy="292608"/>
          </a:xfrm>
          <a:prstGeom prst="roundRect">
            <a:avLst>
              <a:gd name="adj" fmla="val 18750"/>
            </a:avLst>
          </a:prstGeom>
          <a:solidFill>
            <a:srgbClr val="FBBF24">
              <a:alpha val="12000"/>
            </a:srgbClr>
          </a:solidFill>
          <a:ln w="635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9162288" y="5792724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spc="70" kern="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228"/>
          </a:solidFill>
          <a:ln w="12700">
            <a:solidFill>
              <a:srgbClr val="1F222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43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5564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4086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1129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651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6694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2259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0780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345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4867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3388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1910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8521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7043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5564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34086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92608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51129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09651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68172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26694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85216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43737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12680" y="-27432"/>
            <a:ext cx="2176272" cy="457200"/>
          </a:xfrm>
          <a:prstGeom prst="rect">
            <a:avLst/>
          </a:prstGeom>
          <a:solidFill>
            <a:srgbClr val="6366F1">
              <a:alpha val="32000"/>
            </a:srgbClr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-109728" y="6428232"/>
            <a:ext cx="1481328" cy="411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-658368" y="5010912"/>
            <a:ext cx="2240280" cy="2240280"/>
          </a:xfrm>
          <a:prstGeom prst="arc">
            <a:avLst/>
          </a:prstGeom>
          <a:solidFill>
            <a:srgbClr val="22D3EE">
              <a:alpha val="8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16768" y="641908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08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66928" y="43891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07008" y="43891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BOTTLENECK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207008" y="786384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“翻译剧”占 9:1，但机械生硬正在吃掉转化率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1207008" y="1719072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出海成本的真正黑洞，是 100% 重配音与部分本地化重拍。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68680" y="2414016"/>
            <a:ext cx="4526280" cy="269748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68680" y="2414016"/>
            <a:ext cx="41148" cy="26974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3272" y="2560320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FB7185">
              <a:alpha val="30000"/>
            </a:srgbClr>
          </a:solidFill>
          <a:ln w="8890">
            <a:solidFill>
              <a:srgbClr val="FB7185">
                <a:alpha val="82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69848" y="259232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B7185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48" name="Image 0" descr="ppt/icons/clos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109" y="2620670"/>
            <a:ext cx="137160" cy="13716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1316736" y="2635301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OLD</a:t>
            </a:r>
            <a:endParaRPr lang="en-US" sz="680" dirty="0"/>
          </a:p>
        </p:txBody>
      </p:sp>
      <p:sp>
        <p:nvSpPr>
          <p:cNvPr id="50" name="Text 47"/>
          <p:cNvSpPr/>
          <p:nvPr/>
        </p:nvSpPr>
        <p:spPr>
          <a:xfrm>
            <a:off x="1069848" y="2980944"/>
            <a:ext cx="4123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传统翻译剧</a:t>
            </a:r>
            <a:endParaRPr lang="en-US" sz="1550" dirty="0"/>
          </a:p>
        </p:txBody>
      </p:sp>
      <p:sp>
        <p:nvSpPr>
          <p:cNvPr id="51" name="Text 48"/>
          <p:cNvSpPr/>
          <p:nvPr/>
        </p:nvSpPr>
        <p:spPr>
          <a:xfrm>
            <a:off x="1069848" y="3401568"/>
            <a:ext cx="412394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字幕翻译、海外声优、人工审听、反复返工。哭腔变成平淡念白，怒吼变成朗读。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单剧北美成本：$250K–$300K</a:t>
            </a:r>
            <a:endParaRPr lang="en-US" sz="1020" dirty="0"/>
          </a:p>
        </p:txBody>
      </p:sp>
      <p:sp>
        <p:nvSpPr>
          <p:cNvPr id="52" name="Text 49"/>
          <p:cNvSpPr/>
          <p:nvPr/>
        </p:nvSpPr>
        <p:spPr>
          <a:xfrm>
            <a:off x="5650992" y="34930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3400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53" name="Shape 50"/>
          <p:cNvSpPr/>
          <p:nvPr/>
        </p:nvSpPr>
        <p:spPr>
          <a:xfrm>
            <a:off x="6446520" y="2414016"/>
            <a:ext cx="4526280" cy="269748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6446520" y="2414016"/>
            <a:ext cx="41148" cy="26974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611112" y="2560320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34D399">
              <a:alpha val="30000"/>
            </a:srgbClr>
          </a:solidFill>
          <a:ln w="8890">
            <a:solidFill>
              <a:srgbClr val="34D399">
                <a:alpha val="8200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647688" y="259232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34D399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57" name="Image 1" descr="ppt/icons/bol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949" y="2620670"/>
            <a:ext cx="137160" cy="137160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6894576" y="2635301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680" dirty="0"/>
          </a:p>
        </p:txBody>
      </p:sp>
      <p:sp>
        <p:nvSpPr>
          <p:cNvPr id="59" name="Text 55"/>
          <p:cNvSpPr/>
          <p:nvPr/>
        </p:nvSpPr>
        <p:spPr>
          <a:xfrm>
            <a:off x="6647688" y="2980944"/>
            <a:ext cx="4123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深度本地化</a:t>
            </a:r>
            <a:endParaRPr lang="en-US" sz="1550" dirty="0"/>
          </a:p>
        </p:txBody>
      </p:sp>
      <p:sp>
        <p:nvSpPr>
          <p:cNvPr id="60" name="Text 56"/>
          <p:cNvSpPr/>
          <p:nvPr/>
        </p:nvSpPr>
        <p:spPr>
          <a:xfrm>
            <a:off x="6647688" y="3401568"/>
            <a:ext cx="412394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声纹克隆保留角色声线，情绪一致性转换，自动生成多语言投放物料。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目标：成本下降 70%+，周期从周到天</a:t>
            </a:r>
            <a:endParaRPr lang="en-US" sz="1020" dirty="0"/>
          </a:p>
        </p:txBody>
      </p:sp>
      <p:sp>
        <p:nvSpPr>
          <p:cNvPr id="61" name="Shape 57"/>
          <p:cNvSpPr/>
          <p:nvPr/>
        </p:nvSpPr>
        <p:spPr>
          <a:xfrm>
            <a:off x="1828800" y="5504688"/>
            <a:ext cx="8549640" cy="502920"/>
          </a:xfrm>
          <a:prstGeom prst="rect">
            <a:avLst/>
          </a:prstGeom>
          <a:solidFill>
            <a:srgbClr val="6366F1">
              <a:alpha val="16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2011680" y="5660136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出海不是语言替换，而是把文化折扣压到最低。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228"/>
          </a:solidFill>
          <a:ln w="12700">
            <a:solidFill>
              <a:srgbClr val="1F222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43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5564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4086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1129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651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6694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2259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0780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345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4867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3388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1910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8521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7043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5564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34086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92608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51129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09651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68172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26694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85216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43737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12680" y="-27432"/>
            <a:ext cx="2176272" cy="457200"/>
          </a:xfrm>
          <a:prstGeom prst="rect">
            <a:avLst/>
          </a:prstGeom>
          <a:solidFill>
            <a:srgbClr val="6366F1">
              <a:alpha val="32000"/>
            </a:srgbClr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-109728" y="6428232"/>
            <a:ext cx="1481328" cy="411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-658368" y="5010912"/>
            <a:ext cx="2240280" cy="2240280"/>
          </a:xfrm>
          <a:prstGeom prst="arc">
            <a:avLst/>
          </a:prstGeom>
          <a:solidFill>
            <a:srgbClr val="22D3EE">
              <a:alpha val="8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16768" y="641908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08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66928" y="43891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07008" y="43891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207008" y="786384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ClawSeries：面向出海的零人 AI 制片工厂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1207008" y="1719072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从剧本、分镜、资产、视频到译制，统一在一个自动化流水线里完成。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85800" y="2505456"/>
            <a:ext cx="1600200" cy="135331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85800" y="2505456"/>
            <a:ext cx="1600200" cy="5029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0" y="27432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剧本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822960" y="317296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spc="12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551176" y="2505456"/>
            <a:ext cx="1600200" cy="135331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551176" y="2505456"/>
            <a:ext cx="1600200" cy="502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88336" y="27432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分镜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2688336" y="317296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spc="12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SHOT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16552" y="2505456"/>
            <a:ext cx="1600200" cy="135331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416552" y="2505456"/>
            <a:ext cx="1600200" cy="5029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53712" y="27432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资产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4553712" y="317296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spc="12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281928" y="2505456"/>
            <a:ext cx="1600200" cy="135331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81928" y="2505456"/>
            <a:ext cx="1600200" cy="5029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19088" y="27432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视频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6419088" y="317296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spc="12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147304" y="2505456"/>
            <a:ext cx="1600200" cy="135331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47304" y="2505456"/>
            <a:ext cx="1600200" cy="502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84464" y="27432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译制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8284464" y="317296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spc="12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VOX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0012680" y="2505456"/>
            <a:ext cx="1600200" cy="135331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012680" y="2505456"/>
            <a:ext cx="1600200" cy="502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149840" y="27432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分发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10149840" y="317296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spc="12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5840" y="4590288"/>
            <a:ext cx="2331720" cy="80467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170432" y="4736592"/>
            <a:ext cx="438912" cy="3200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70432" y="4773168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创作提速</a:t>
            </a:r>
            <a:endParaRPr lang="en-US" sz="780" dirty="0"/>
          </a:p>
        </p:txBody>
      </p:sp>
      <p:sp>
        <p:nvSpPr>
          <p:cNvPr id="71" name="Text 69"/>
          <p:cNvSpPr/>
          <p:nvPr/>
        </p:nvSpPr>
        <p:spPr>
          <a:xfrm>
            <a:off x="1170432" y="5065776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10x</a:t>
            </a:r>
            <a:endParaRPr lang="en-US" sz="2500" dirty="0"/>
          </a:p>
        </p:txBody>
      </p:sp>
      <p:sp>
        <p:nvSpPr>
          <p:cNvPr id="72" name="Shape 70"/>
          <p:cNvSpPr/>
          <p:nvPr/>
        </p:nvSpPr>
        <p:spPr>
          <a:xfrm>
            <a:off x="3584448" y="4590288"/>
            <a:ext cx="2331720" cy="80467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749040" y="4736592"/>
            <a:ext cx="438912" cy="3200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749040" y="4773168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宣传物料成本</a:t>
            </a:r>
            <a:endParaRPr lang="en-US" sz="780" dirty="0"/>
          </a:p>
        </p:txBody>
      </p:sp>
      <p:sp>
        <p:nvSpPr>
          <p:cNvPr id="75" name="Text 73"/>
          <p:cNvSpPr/>
          <p:nvPr/>
        </p:nvSpPr>
        <p:spPr>
          <a:xfrm>
            <a:off x="3749040" y="5065776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-90%</a:t>
            </a:r>
            <a:endParaRPr lang="en-US" sz="2500" dirty="0"/>
          </a:p>
        </p:txBody>
      </p:sp>
      <p:sp>
        <p:nvSpPr>
          <p:cNvPr id="76" name="Shape 74"/>
          <p:cNvSpPr/>
          <p:nvPr/>
        </p:nvSpPr>
        <p:spPr>
          <a:xfrm>
            <a:off x="6163056" y="4590288"/>
            <a:ext cx="2331720" cy="80467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327648" y="4736592"/>
            <a:ext cx="438912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>
                <a:alpha val="0"/>
              </a:srgbClr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327648" y="4773168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制作周期压缩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6327648" y="5065776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2DD4B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15→3天</a:t>
            </a:r>
            <a:endParaRPr lang="en-US" sz="2400" dirty="0"/>
          </a:p>
        </p:txBody>
      </p:sp>
      <p:sp>
        <p:nvSpPr>
          <p:cNvPr id="80" name="Shape 78"/>
          <p:cNvSpPr/>
          <p:nvPr/>
        </p:nvSpPr>
        <p:spPr>
          <a:xfrm>
            <a:off x="8741664" y="4590288"/>
            <a:ext cx="2331720" cy="804672"/>
          </a:xfrm>
          <a:prstGeom prst="rect">
            <a:avLst/>
          </a:prstGeom>
          <a:solidFill>
            <a:srgbClr val="2A2D34">
              <a:alpha val="97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906256" y="4736592"/>
            <a:ext cx="438912" cy="3200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906256" y="4773168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并行渲染目标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8906256" y="5065776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dirty="0">
                <a:solidFill>
                  <a:srgbClr val="A78BF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50集</a:t>
            </a:r>
            <a:endParaRPr lang="en-US" sz="2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228"/>
          </a:solidFill>
          <a:ln w="12700">
            <a:solidFill>
              <a:srgbClr val="1F222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43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5564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4086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1129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651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6694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2259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0780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345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4867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3388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1910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8521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7043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5564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34086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92608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51129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09651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68172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26694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85216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43737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12680" y="-27432"/>
            <a:ext cx="2176272" cy="457200"/>
          </a:xfrm>
          <a:prstGeom prst="rect">
            <a:avLst/>
          </a:prstGeom>
          <a:solidFill>
            <a:srgbClr val="6366F1">
              <a:alpha val="32000"/>
            </a:srgbClr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-109728" y="6428232"/>
            <a:ext cx="1481328" cy="411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-658368" y="5010912"/>
            <a:ext cx="2240280" cy="2240280"/>
          </a:xfrm>
          <a:prstGeom prst="arc">
            <a:avLst/>
          </a:prstGeom>
          <a:solidFill>
            <a:srgbClr val="22D3EE">
              <a:alpha val="8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16768" y="641908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08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66928" y="43891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07008" y="43891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PROOF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207008" y="786384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最近的系统进展：把“出海链路”做成可观察、可调试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1207008" y="1719072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黑客松展示重点：不是只生成一个视频，而是能持续监控、复现和修正流水线。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777240" y="2286000"/>
            <a:ext cx="5230368" cy="132588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77240" y="2286000"/>
            <a:ext cx="41148" cy="13258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1832" y="2432304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22D3EE">
              <a:alpha val="30000"/>
            </a:srgbClr>
          </a:solidFill>
          <a:ln w="8890">
            <a:solidFill>
              <a:srgbClr val="22D3EE">
                <a:alpha val="82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8408" y="246430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2D3EE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48" name="Image 0" descr="ppt/icons/settings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669" y="2492654"/>
            <a:ext cx="137160" cy="13716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1225296" y="2507285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</a:t>
            </a:r>
            <a:endParaRPr lang="en-US" sz="680" dirty="0"/>
          </a:p>
        </p:txBody>
      </p:sp>
      <p:sp>
        <p:nvSpPr>
          <p:cNvPr id="50" name="Text 47"/>
          <p:cNvSpPr/>
          <p:nvPr/>
        </p:nvSpPr>
        <p:spPr>
          <a:xfrm>
            <a:off x="978408" y="2852928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Video Tab 镜头级监控</a:t>
            </a:r>
            <a:endParaRPr lang="en-US" sz="1550" dirty="0"/>
          </a:p>
        </p:txBody>
      </p:sp>
      <p:sp>
        <p:nvSpPr>
          <p:cNvPr id="51" name="Text 48"/>
          <p:cNvSpPr/>
          <p:nvPr/>
        </p:nvSpPr>
        <p:spPr>
          <a:xfrm>
            <a:off x="978408" y="3273552"/>
            <a:ext cx="48280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每个镜头一张近方形卡片，首帧、提示词、日志和状态统一可见。</a:t>
            </a:r>
            <a:endParaRPr lang="en-US" sz="1020" dirty="0"/>
          </a:p>
        </p:txBody>
      </p:sp>
      <p:sp>
        <p:nvSpPr>
          <p:cNvPr id="52" name="Shape 49"/>
          <p:cNvSpPr/>
          <p:nvPr/>
        </p:nvSpPr>
        <p:spPr>
          <a:xfrm>
            <a:off x="6236208" y="2286000"/>
            <a:ext cx="5230368" cy="132588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6236208" y="2286000"/>
            <a:ext cx="41148" cy="13258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400800" y="2432304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60A5FA">
              <a:alpha val="30000"/>
            </a:srgbClr>
          </a:solidFill>
          <a:ln w="8890">
            <a:solidFill>
              <a:srgbClr val="60A5FA">
                <a:alpha val="82000"/>
              </a:srgbClr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37376" y="246430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60A5FA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56" name="Image 1" descr="ppt/icons/movi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637" y="2492654"/>
            <a:ext cx="137160" cy="137160"/>
          </a:xfrm>
          <a:prstGeom prst="rect">
            <a:avLst/>
          </a:prstGeom>
        </p:spPr>
      </p:pic>
      <p:sp>
        <p:nvSpPr>
          <p:cNvPr id="57" name="Text 53"/>
          <p:cNvSpPr/>
          <p:nvPr/>
        </p:nvSpPr>
        <p:spPr>
          <a:xfrm>
            <a:off x="6684264" y="2507285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</a:t>
            </a:r>
            <a:endParaRPr lang="en-US" sz="680" dirty="0"/>
          </a:p>
        </p:txBody>
      </p:sp>
      <p:sp>
        <p:nvSpPr>
          <p:cNvPr id="58" name="Text 54"/>
          <p:cNvSpPr/>
          <p:nvPr/>
        </p:nvSpPr>
        <p:spPr>
          <a:xfrm>
            <a:off x="6437376" y="2852928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VectorEngine 自动视频</a:t>
            </a:r>
            <a:endParaRPr lang="en-US" sz="1550" dirty="0"/>
          </a:p>
        </p:txBody>
      </p:sp>
      <p:sp>
        <p:nvSpPr>
          <p:cNvPr id="59" name="Text 55"/>
          <p:cNvSpPr/>
          <p:nvPr/>
        </p:nvSpPr>
        <p:spPr>
          <a:xfrm>
            <a:off x="6437376" y="3273552"/>
            <a:ext cx="48280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首帧上传图床后传入向量矩阵，支持自动生成和手动逐镜头重跑。</a:t>
            </a:r>
            <a:endParaRPr lang="en-US" sz="1020" dirty="0"/>
          </a:p>
        </p:txBody>
      </p:sp>
      <p:sp>
        <p:nvSpPr>
          <p:cNvPr id="60" name="Shape 56"/>
          <p:cNvSpPr/>
          <p:nvPr/>
        </p:nvSpPr>
        <p:spPr>
          <a:xfrm>
            <a:off x="777240" y="3895344"/>
            <a:ext cx="5230368" cy="132588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61" name="Shape 57"/>
          <p:cNvSpPr/>
          <p:nvPr/>
        </p:nvSpPr>
        <p:spPr>
          <a:xfrm>
            <a:off x="777240" y="3895344"/>
            <a:ext cx="4114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941832" y="4041648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FBBF24">
              <a:alpha val="30000"/>
            </a:srgbClr>
          </a:solidFill>
          <a:ln w="8890">
            <a:solidFill>
              <a:srgbClr val="FBBF24">
                <a:alpha val="8200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78408" y="4073652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BBF24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64" name="Image 2" descr="ppt/icons/translat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9" y="4101998"/>
            <a:ext cx="137160" cy="137160"/>
          </a:xfrm>
          <a:prstGeom prst="rect">
            <a:avLst/>
          </a:prstGeom>
        </p:spPr>
      </p:pic>
      <p:sp>
        <p:nvSpPr>
          <p:cNvPr id="65" name="Text 60"/>
          <p:cNvSpPr/>
          <p:nvPr/>
        </p:nvSpPr>
        <p:spPr>
          <a:xfrm>
            <a:off x="1225296" y="4116629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DUB</a:t>
            </a:r>
            <a:endParaRPr lang="en-US" sz="680" dirty="0"/>
          </a:p>
        </p:txBody>
      </p:sp>
      <p:sp>
        <p:nvSpPr>
          <p:cNvPr id="66" name="Text 61"/>
          <p:cNvSpPr/>
          <p:nvPr/>
        </p:nvSpPr>
        <p:spPr>
          <a:xfrm>
            <a:off x="978408" y="4462272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VoxCPM 参考音频保留</a:t>
            </a:r>
            <a:endParaRPr lang="en-US" sz="1550" dirty="0"/>
          </a:p>
        </p:txBody>
      </p:sp>
      <p:sp>
        <p:nvSpPr>
          <p:cNvPr id="67" name="Text 62"/>
          <p:cNvSpPr/>
          <p:nvPr/>
        </p:nvSpPr>
        <p:spPr>
          <a:xfrm>
            <a:off x="978408" y="4882896"/>
            <a:ext cx="48280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每段译制的原声参考切片保存在旁边，方便对比音色与情绪。</a:t>
            </a:r>
            <a:endParaRPr lang="en-US" sz="1020" dirty="0"/>
          </a:p>
        </p:txBody>
      </p:sp>
      <p:sp>
        <p:nvSpPr>
          <p:cNvPr id="68" name="Shape 63"/>
          <p:cNvSpPr/>
          <p:nvPr/>
        </p:nvSpPr>
        <p:spPr>
          <a:xfrm>
            <a:off x="6236208" y="3895344"/>
            <a:ext cx="5230368" cy="132588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69" name="Shape 64"/>
          <p:cNvSpPr/>
          <p:nvPr/>
        </p:nvSpPr>
        <p:spPr>
          <a:xfrm>
            <a:off x="6236208" y="3895344"/>
            <a:ext cx="41148" cy="132588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>
                <a:alpha val="0"/>
              </a:srgbClr>
            </a:solidFill>
            <a:prstDash val="solid"/>
          </a:ln>
        </p:spPr>
      </p:sp>
      <p:sp>
        <p:nvSpPr>
          <p:cNvPr id="70" name="Shape 65"/>
          <p:cNvSpPr/>
          <p:nvPr/>
        </p:nvSpPr>
        <p:spPr>
          <a:xfrm>
            <a:off x="6400800" y="4041648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2DD4BF">
              <a:alpha val="30000"/>
            </a:srgbClr>
          </a:solidFill>
          <a:ln w="8890">
            <a:solidFill>
              <a:srgbClr val="2DD4BF">
                <a:alpha val="82000"/>
              </a:srgbClr>
            </a:solidFill>
            <a:prstDash val="solid"/>
          </a:ln>
        </p:spPr>
      </p:sp>
      <p:sp>
        <p:nvSpPr>
          <p:cNvPr id="71" name="Shape 66"/>
          <p:cNvSpPr/>
          <p:nvPr/>
        </p:nvSpPr>
        <p:spPr>
          <a:xfrm>
            <a:off x="6437376" y="4073652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DD4BF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72" name="Image 3" descr="ppt/icons/public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637" y="4101998"/>
            <a:ext cx="137160" cy="137160"/>
          </a:xfrm>
          <a:prstGeom prst="rect">
            <a:avLst/>
          </a:prstGeom>
        </p:spPr>
      </p:pic>
      <p:sp>
        <p:nvSpPr>
          <p:cNvPr id="73" name="Text 67"/>
          <p:cNvSpPr/>
          <p:nvPr/>
        </p:nvSpPr>
        <p:spPr>
          <a:xfrm>
            <a:off x="6684264" y="4116629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I18N</a:t>
            </a:r>
            <a:endParaRPr lang="en-US" sz="680" dirty="0"/>
          </a:p>
        </p:txBody>
      </p:sp>
      <p:sp>
        <p:nvSpPr>
          <p:cNvPr id="74" name="Text 68"/>
          <p:cNvSpPr/>
          <p:nvPr/>
        </p:nvSpPr>
        <p:spPr>
          <a:xfrm>
            <a:off x="6437376" y="4462272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多语言展示与出海叙事</a:t>
            </a:r>
            <a:endParaRPr lang="en-US" sz="1550" dirty="0"/>
          </a:p>
        </p:txBody>
      </p:sp>
      <p:sp>
        <p:nvSpPr>
          <p:cNvPr id="75" name="Text 69"/>
          <p:cNvSpPr/>
          <p:nvPr/>
        </p:nvSpPr>
        <p:spPr>
          <a:xfrm>
            <a:off x="6437376" y="4882896"/>
            <a:ext cx="48280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官网与 deck 统一强调全球发行，而不是单纯国内生产工具。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228"/>
          </a:solidFill>
          <a:ln w="12700">
            <a:solidFill>
              <a:srgbClr val="1F222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43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5564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4086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1129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9651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6694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2259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0780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3456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48672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33888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19104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0" y="0"/>
            <a:ext cx="0" cy="685800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8521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7043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5564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34086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92608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51129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096512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681728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266944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852160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437376"/>
            <a:ext cx="12191695" cy="0"/>
          </a:xfrm>
          <a:prstGeom prst="line">
            <a:avLst/>
          </a:prstGeom>
          <a:noFill/>
          <a:ln w="4445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12680" y="-27432"/>
            <a:ext cx="2176272" cy="457200"/>
          </a:xfrm>
          <a:prstGeom prst="rect">
            <a:avLst/>
          </a:prstGeom>
          <a:solidFill>
            <a:srgbClr val="6366F1">
              <a:alpha val="32000"/>
            </a:srgbClr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-109728" y="6428232"/>
            <a:ext cx="1481328" cy="411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-658368" y="5010912"/>
            <a:ext cx="2240280" cy="2240280"/>
          </a:xfrm>
          <a:prstGeom prst="arc">
            <a:avLst/>
          </a:prstGeom>
          <a:solidFill>
            <a:srgbClr val="22D3EE">
              <a:alpha val="8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16768" y="641908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C7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08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914400" y="8686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B9BBC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THESIS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914400" y="1298448"/>
            <a:ext cx="8778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短剧出海的下半场：</a:t>
            </a:r>
            <a:endParaRPr lang="en-US" sz="4200" dirty="0"/>
          </a:p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技术即基石</a:t>
            </a:r>
            <a:endParaRPr lang="en-US" sz="4200" dirty="0"/>
          </a:p>
        </p:txBody>
      </p:sp>
      <p:sp>
        <p:nvSpPr>
          <p:cNvPr id="42" name="Text 40"/>
          <p:cNvSpPr/>
          <p:nvPr/>
        </p:nvSpPr>
        <p:spPr>
          <a:xfrm>
            <a:off x="914400" y="2907792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谁先把本地化做成流水线，谁就能把中国 IP 的内容优势变成全球增长优势。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914400" y="3886200"/>
            <a:ext cx="3154680" cy="132588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14400" y="3886200"/>
            <a:ext cx="41148" cy="13258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78992" y="4032504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60A5FA">
              <a:alpha val="30000"/>
            </a:srgbClr>
          </a:solidFill>
          <a:ln w="8890">
            <a:solidFill>
              <a:srgbClr val="60A5FA">
                <a:alpha val="82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15568" y="406450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60A5FA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47" name="Image 0" descr="ppt/icons/public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4092854"/>
            <a:ext cx="137160" cy="137160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362456" y="4107485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680" dirty="0"/>
          </a:p>
        </p:txBody>
      </p:sp>
      <p:sp>
        <p:nvSpPr>
          <p:cNvPr id="49" name="Text 46"/>
          <p:cNvSpPr/>
          <p:nvPr/>
        </p:nvSpPr>
        <p:spPr>
          <a:xfrm>
            <a:off x="1115568" y="4453128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抓住全球增量</a:t>
            </a:r>
            <a:endParaRPr lang="en-US" sz="1550" dirty="0"/>
          </a:p>
        </p:txBody>
      </p:sp>
      <p:sp>
        <p:nvSpPr>
          <p:cNvPr id="50" name="Text 47"/>
          <p:cNvSpPr/>
          <p:nvPr/>
        </p:nvSpPr>
        <p:spPr>
          <a:xfrm>
            <a:off x="1115568" y="4873752"/>
            <a:ext cx="2752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2025E 海外内购收入 $23.29B，下载仍在高速扩散。</a:t>
            </a:r>
            <a:endParaRPr lang="en-US" sz="1020" dirty="0"/>
          </a:p>
        </p:txBody>
      </p:sp>
      <p:sp>
        <p:nvSpPr>
          <p:cNvPr id="51" name="Shape 48"/>
          <p:cNvSpPr/>
          <p:nvPr/>
        </p:nvSpPr>
        <p:spPr>
          <a:xfrm>
            <a:off x="4343400" y="3886200"/>
            <a:ext cx="3154680" cy="132588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43400" y="3886200"/>
            <a:ext cx="4114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07992" y="4032504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FBBF24">
              <a:alpha val="30000"/>
            </a:srgbClr>
          </a:solidFill>
          <a:ln w="8890">
            <a:solidFill>
              <a:srgbClr val="FBBF24">
                <a:alpha val="8200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44568" y="406450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BBF24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55" name="Image 1" descr="ppt/icons/warning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829" y="4092854"/>
            <a:ext cx="137160" cy="137160"/>
          </a:xfrm>
          <a:prstGeom prst="rect">
            <a:avLst/>
          </a:prstGeom>
        </p:spPr>
      </p:pic>
      <p:sp>
        <p:nvSpPr>
          <p:cNvPr id="56" name="Text 52"/>
          <p:cNvSpPr/>
          <p:nvPr/>
        </p:nvSpPr>
        <p:spPr>
          <a:xfrm>
            <a:off x="4791456" y="4107485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680" dirty="0"/>
          </a:p>
        </p:txBody>
      </p:sp>
      <p:sp>
        <p:nvSpPr>
          <p:cNvPr id="57" name="Text 53"/>
          <p:cNvSpPr/>
          <p:nvPr/>
        </p:nvSpPr>
        <p:spPr>
          <a:xfrm>
            <a:off x="4544568" y="4453128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守住利润底线</a:t>
            </a:r>
            <a:endParaRPr lang="en-US" sz="1550" dirty="0"/>
          </a:p>
        </p:txBody>
      </p:sp>
      <p:sp>
        <p:nvSpPr>
          <p:cNvPr id="58" name="Text 54"/>
          <p:cNvSpPr/>
          <p:nvPr/>
        </p:nvSpPr>
        <p:spPr>
          <a:xfrm>
            <a:off x="4544568" y="4873752"/>
            <a:ext cx="2752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用自动化抵消平台税与投流黑洞。</a:t>
            </a:r>
            <a:endParaRPr lang="en-US" sz="1020" dirty="0"/>
          </a:p>
        </p:txBody>
      </p:sp>
      <p:sp>
        <p:nvSpPr>
          <p:cNvPr id="59" name="Shape 55"/>
          <p:cNvSpPr/>
          <p:nvPr/>
        </p:nvSpPr>
        <p:spPr>
          <a:xfrm>
            <a:off x="7772400" y="3886200"/>
            <a:ext cx="3154680" cy="1325880"/>
          </a:xfrm>
          <a:prstGeom prst="rect">
            <a:avLst/>
          </a:prstGeom>
          <a:solidFill>
            <a:srgbClr val="2A2D34">
              <a:alpha val="96000"/>
            </a:srgbClr>
          </a:solidFill>
          <a:ln w="9525">
            <a:solidFill>
              <a:srgbClr val="4A4D56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10000"/>
              </a:srgbClr>
            </a:outerShdw>
          </a:effectLst>
        </p:spPr>
      </p:sp>
      <p:sp>
        <p:nvSpPr>
          <p:cNvPr id="60" name="Shape 56"/>
          <p:cNvSpPr/>
          <p:nvPr/>
        </p:nvSpPr>
        <p:spPr>
          <a:xfrm>
            <a:off x="7772400" y="3886200"/>
            <a:ext cx="41148" cy="132588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936992" y="4032504"/>
            <a:ext cx="877824" cy="265176"/>
          </a:xfrm>
          <a:prstGeom prst="roundRect">
            <a:avLst>
              <a:gd name="adj" fmla="val 17241"/>
            </a:avLst>
          </a:prstGeom>
          <a:solidFill>
            <a:srgbClr val="2DD4BF">
              <a:alpha val="30000"/>
            </a:srgbClr>
          </a:solidFill>
          <a:ln w="8890">
            <a:solidFill>
              <a:srgbClr val="2DD4BF">
                <a:alpha val="8200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7973568" y="406450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DD4BF">
              <a:alpha val="90000"/>
            </a:srgbClr>
          </a:solidFill>
          <a:ln w="4445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63" name="Image 2" descr="ppt/icons/translat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2829" y="4092854"/>
            <a:ext cx="137160" cy="137160"/>
          </a:xfrm>
          <a:prstGeom prst="rect">
            <a:avLst/>
          </a:prstGeom>
        </p:spPr>
      </p:pic>
      <p:sp>
        <p:nvSpPr>
          <p:cNvPr id="64" name="Text 59"/>
          <p:cNvSpPr/>
          <p:nvPr/>
        </p:nvSpPr>
        <p:spPr>
          <a:xfrm>
            <a:off x="8220456" y="4107485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spc="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680" dirty="0"/>
          </a:p>
        </p:txBody>
      </p:sp>
      <p:sp>
        <p:nvSpPr>
          <p:cNvPr id="65" name="Text 60"/>
          <p:cNvSpPr/>
          <p:nvPr/>
        </p:nvSpPr>
        <p:spPr>
          <a:xfrm>
            <a:off x="7973568" y="4453128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跨越文化折扣</a:t>
            </a:r>
            <a:endParaRPr lang="en-US" sz="1550" dirty="0"/>
          </a:p>
        </p:txBody>
      </p:sp>
      <p:sp>
        <p:nvSpPr>
          <p:cNvPr id="66" name="Text 61"/>
          <p:cNvSpPr/>
          <p:nvPr/>
        </p:nvSpPr>
        <p:spPr>
          <a:xfrm>
            <a:off x="7973568" y="4873752"/>
            <a:ext cx="2752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B9BBC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用声纹、情绪和多语言物料完成深度本地化。</a:t>
            </a:r>
            <a:endParaRPr lang="en-US" sz="1020" dirty="0"/>
          </a:p>
        </p:txBody>
      </p:sp>
      <p:sp>
        <p:nvSpPr>
          <p:cNvPr id="67" name="Shape 62"/>
          <p:cNvSpPr/>
          <p:nvPr/>
        </p:nvSpPr>
        <p:spPr>
          <a:xfrm>
            <a:off x="914400" y="5806440"/>
            <a:ext cx="10012680" cy="393192"/>
          </a:xfrm>
          <a:prstGeom prst="rect">
            <a:avLst/>
          </a:prstGeom>
          <a:solidFill>
            <a:srgbClr val="6366F1">
              <a:alpha val="18000"/>
            </a:srgbClr>
          </a:solidFill>
          <a:ln w="9525">
            <a:solidFill>
              <a:srgbClr val="4A4D56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1097280" y="5925312"/>
            <a:ext cx="9646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ClawSeries = Global Short Drama Autopilot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ClawSeries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ClawSeries hackathon pitch</dc:subject>
  <dc:creator>ClawSeries</dc:creator>
  <cp:lastModifiedBy>ClawSeries</cp:lastModifiedBy>
  <cp:revision>1</cp:revision>
  <dcterms:created xsi:type="dcterms:W3CDTF">2026-04-25T07:23:50Z</dcterms:created>
  <dcterms:modified xsi:type="dcterms:W3CDTF">2026-04-25T07:23:50Z</dcterms:modified>
</cp:coreProperties>
</file>